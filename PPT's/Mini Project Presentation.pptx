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7" r:id="rId12"/>
  </p:sldIdLst>
  <p:sldSz cx="18288000" cy="10287000"/>
  <p:notesSz cx="6858000" cy="9144000"/>
  <p:embeddedFontLst>
    <p:embeddedFont>
      <p:font typeface="Arimo" panose="020B0604020202020204" charset="0"/>
      <p:regular r:id="rId13"/>
    </p:embeddedFont>
    <p:embeddedFont>
      <p:font typeface="Century Gothic Paneuropean Bold" panose="020B0604020202020204"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C4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p:scale>
          <a:sx n="66" d="100"/>
          <a:sy n="66" d="100"/>
        </p:scale>
        <p:origin x="357" y="-5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8.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0.svg"/><Relationship Id="rId7" Type="http://schemas.openxmlformats.org/officeDocument/2006/relationships/image" Target="../media/image4.svg"/><Relationship Id="rId12" Type="http://schemas.openxmlformats.org/officeDocument/2006/relationships/image" Target="../media/image13.pn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8.svg"/><Relationship Id="rId5" Type="http://schemas.openxmlformats.org/officeDocument/2006/relationships/image" Target="../media/image2.svg"/><Relationship Id="rId10" Type="http://schemas.openxmlformats.org/officeDocument/2006/relationships/image" Target="../media/image7.png"/><Relationship Id="rId4" Type="http://schemas.openxmlformats.org/officeDocument/2006/relationships/image" Target="../media/image1.png"/><Relationship Id="rId9" Type="http://schemas.openxmlformats.org/officeDocument/2006/relationships/image" Target="../media/image6.svg"/></Relationships>
</file>

<file path=ppt/slides/_rels/slide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1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1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4F0D8"/>
        </a:solidFill>
        <a:effectLst/>
      </p:bgPr>
    </p:bg>
    <p:spTree>
      <p:nvGrpSpPr>
        <p:cNvPr id="1" name=""/>
        <p:cNvGrpSpPr/>
        <p:nvPr/>
      </p:nvGrpSpPr>
      <p:grpSpPr>
        <a:xfrm>
          <a:off x="0" y="0"/>
          <a:ext cx="0" cy="0"/>
          <a:chOff x="0" y="0"/>
          <a:chExt cx="0" cy="0"/>
        </a:xfrm>
      </p:grpSpPr>
      <p:sp>
        <p:nvSpPr>
          <p:cNvPr id="2" name="Freeform 2"/>
          <p:cNvSpPr/>
          <p:nvPr/>
        </p:nvSpPr>
        <p:spPr>
          <a:xfrm>
            <a:off x="-4164295" y="6986796"/>
            <a:ext cx="8328590" cy="6600408"/>
          </a:xfrm>
          <a:custGeom>
            <a:avLst/>
            <a:gdLst/>
            <a:ahLst/>
            <a:cxnLst/>
            <a:rect l="l" t="t" r="r" b="b"/>
            <a:pathLst>
              <a:path w="8328590" h="6600408">
                <a:moveTo>
                  <a:pt x="0" y="0"/>
                </a:moveTo>
                <a:lnTo>
                  <a:pt x="8328590" y="0"/>
                </a:lnTo>
                <a:lnTo>
                  <a:pt x="8328590" y="6600408"/>
                </a:lnTo>
                <a:lnTo>
                  <a:pt x="0" y="66004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3631678" y="7446153"/>
            <a:ext cx="10608642" cy="11546822"/>
          </a:xfrm>
          <a:custGeom>
            <a:avLst/>
            <a:gdLst/>
            <a:ahLst/>
            <a:cxnLst/>
            <a:rect l="l" t="t" r="r" b="b"/>
            <a:pathLst>
              <a:path w="10608642" h="11546822">
                <a:moveTo>
                  <a:pt x="0" y="0"/>
                </a:moveTo>
                <a:lnTo>
                  <a:pt x="10608643" y="0"/>
                </a:lnTo>
                <a:lnTo>
                  <a:pt x="10608643" y="11546822"/>
                </a:lnTo>
                <a:lnTo>
                  <a:pt x="0" y="1154682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849365">
            <a:off x="-209999" y="7200900"/>
            <a:ext cx="3463913" cy="4114800"/>
          </a:xfrm>
          <a:custGeom>
            <a:avLst/>
            <a:gdLst/>
            <a:ahLst/>
            <a:cxnLst/>
            <a:rect l="l" t="t" r="r" b="b"/>
            <a:pathLst>
              <a:path w="3463913" h="4114800">
                <a:moveTo>
                  <a:pt x="0" y="0"/>
                </a:moveTo>
                <a:lnTo>
                  <a:pt x="3463914" y="0"/>
                </a:lnTo>
                <a:lnTo>
                  <a:pt x="3463914"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3704487" y="8229600"/>
            <a:ext cx="2356658" cy="4114800"/>
          </a:xfrm>
          <a:custGeom>
            <a:avLst/>
            <a:gdLst/>
            <a:ahLst/>
            <a:cxnLst/>
            <a:rect l="l" t="t" r="r" b="b"/>
            <a:pathLst>
              <a:path w="2356658" h="4114800">
                <a:moveTo>
                  <a:pt x="0" y="0"/>
                </a:moveTo>
                <a:lnTo>
                  <a:pt x="2356659" y="0"/>
                </a:lnTo>
                <a:lnTo>
                  <a:pt x="2356659"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rot="9891071">
            <a:off x="13768657" y="-4710460"/>
            <a:ext cx="8328590" cy="6600408"/>
          </a:xfrm>
          <a:custGeom>
            <a:avLst/>
            <a:gdLst/>
            <a:ahLst/>
            <a:cxnLst/>
            <a:rect l="l" t="t" r="r" b="b"/>
            <a:pathLst>
              <a:path w="8328590" h="6600408">
                <a:moveTo>
                  <a:pt x="0" y="0"/>
                </a:moveTo>
                <a:lnTo>
                  <a:pt x="8328591" y="0"/>
                </a:lnTo>
                <a:lnTo>
                  <a:pt x="8328591" y="6600407"/>
                </a:lnTo>
                <a:lnTo>
                  <a:pt x="0" y="66004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p:cNvSpPr/>
          <p:nvPr/>
        </p:nvSpPr>
        <p:spPr>
          <a:xfrm rot="9891071">
            <a:off x="10247754" y="-9577219"/>
            <a:ext cx="10608642" cy="11546822"/>
          </a:xfrm>
          <a:custGeom>
            <a:avLst/>
            <a:gdLst/>
            <a:ahLst/>
            <a:cxnLst/>
            <a:rect l="l" t="t" r="r" b="b"/>
            <a:pathLst>
              <a:path w="10608642" h="11546822">
                <a:moveTo>
                  <a:pt x="0" y="0"/>
                </a:moveTo>
                <a:lnTo>
                  <a:pt x="10608642" y="0"/>
                </a:lnTo>
                <a:lnTo>
                  <a:pt x="10608642" y="11546822"/>
                </a:lnTo>
                <a:lnTo>
                  <a:pt x="0" y="1154682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rot="9891071">
            <a:off x="15012761" y="-1456000"/>
            <a:ext cx="3463913" cy="4114800"/>
          </a:xfrm>
          <a:custGeom>
            <a:avLst/>
            <a:gdLst/>
            <a:ahLst/>
            <a:cxnLst/>
            <a:rect l="l" t="t" r="r" b="b"/>
            <a:pathLst>
              <a:path w="3463913" h="4114800">
                <a:moveTo>
                  <a:pt x="0" y="0"/>
                </a:moveTo>
                <a:lnTo>
                  <a:pt x="3463914" y="0"/>
                </a:lnTo>
                <a:lnTo>
                  <a:pt x="3463914"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p:cNvSpPr/>
          <p:nvPr/>
        </p:nvSpPr>
        <p:spPr>
          <a:xfrm rot="9891071">
            <a:off x="12402248" y="-2057400"/>
            <a:ext cx="2356658" cy="4114800"/>
          </a:xfrm>
          <a:custGeom>
            <a:avLst/>
            <a:gdLst/>
            <a:ahLst/>
            <a:cxnLst/>
            <a:rect l="l" t="t" r="r" b="b"/>
            <a:pathLst>
              <a:path w="2356658" h="4114800">
                <a:moveTo>
                  <a:pt x="0" y="0"/>
                </a:moveTo>
                <a:lnTo>
                  <a:pt x="2356658" y="0"/>
                </a:lnTo>
                <a:lnTo>
                  <a:pt x="2356658"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0" name="Freeform 10"/>
          <p:cNvSpPr/>
          <p:nvPr/>
        </p:nvSpPr>
        <p:spPr>
          <a:xfrm>
            <a:off x="16514775" y="8229600"/>
            <a:ext cx="1489050" cy="2519931"/>
          </a:xfrm>
          <a:custGeom>
            <a:avLst/>
            <a:gdLst/>
            <a:ahLst/>
            <a:cxnLst/>
            <a:rect l="l" t="t" r="r" b="b"/>
            <a:pathLst>
              <a:path w="1489050" h="2519931">
                <a:moveTo>
                  <a:pt x="0" y="0"/>
                </a:moveTo>
                <a:lnTo>
                  <a:pt x="1489050" y="0"/>
                </a:lnTo>
                <a:lnTo>
                  <a:pt x="1489050" y="2519931"/>
                </a:lnTo>
                <a:lnTo>
                  <a:pt x="0" y="2519931"/>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1" name="Freeform 11"/>
          <p:cNvSpPr/>
          <p:nvPr/>
        </p:nvSpPr>
        <p:spPr>
          <a:xfrm flipV="1">
            <a:off x="284175" y="-433465"/>
            <a:ext cx="1489050" cy="2519931"/>
          </a:xfrm>
          <a:custGeom>
            <a:avLst/>
            <a:gdLst/>
            <a:ahLst/>
            <a:cxnLst/>
            <a:rect l="l" t="t" r="r" b="b"/>
            <a:pathLst>
              <a:path w="1489050" h="2519931">
                <a:moveTo>
                  <a:pt x="0" y="2519931"/>
                </a:moveTo>
                <a:lnTo>
                  <a:pt x="1489050" y="2519931"/>
                </a:lnTo>
                <a:lnTo>
                  <a:pt x="1489050" y="0"/>
                </a:lnTo>
                <a:lnTo>
                  <a:pt x="0" y="0"/>
                </a:lnTo>
                <a:lnTo>
                  <a:pt x="0" y="2519931"/>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2" name="TextBox 12"/>
          <p:cNvSpPr txBox="1"/>
          <p:nvPr/>
        </p:nvSpPr>
        <p:spPr>
          <a:xfrm>
            <a:off x="1773225" y="1993921"/>
            <a:ext cx="14387296" cy="5452232"/>
          </a:xfrm>
          <a:prstGeom prst="rect">
            <a:avLst/>
          </a:prstGeom>
        </p:spPr>
        <p:txBody>
          <a:bodyPr lIns="0" tIns="0" rIns="0" bIns="0" rtlCol="0" anchor="t">
            <a:spAutoFit/>
          </a:bodyPr>
          <a:lstStyle/>
          <a:p>
            <a:pPr algn="ctr">
              <a:lnSpc>
                <a:spcPts val="13922"/>
              </a:lnSpc>
            </a:pPr>
            <a:r>
              <a:rPr lang="en-US" sz="16002" b="1" dirty="0">
                <a:solidFill>
                  <a:srgbClr val="2C4600"/>
                </a:solidFill>
                <a:effectLst>
                  <a:outerShdw blurRad="38100" dist="38100" dir="2700000" algn="tl">
                    <a:srgbClr val="000000">
                      <a:alpha val="43137"/>
                    </a:srgbClr>
                  </a:outerShdw>
                </a:effectLst>
                <a:latin typeface="Century Gothic Paneuropean Bold"/>
                <a:ea typeface="Century Gothic Paneuropean Bold"/>
                <a:cs typeface="Century Gothic Paneuropean Bold"/>
                <a:sym typeface="Century Gothic Paneuropean Bold"/>
              </a:rPr>
              <a:t>3D INTERACTIVE MAP</a:t>
            </a:r>
          </a:p>
        </p:txBody>
      </p:sp>
      <p:sp>
        <p:nvSpPr>
          <p:cNvPr id="13" name="TextBox 13"/>
          <p:cNvSpPr txBox="1"/>
          <p:nvPr/>
        </p:nvSpPr>
        <p:spPr>
          <a:xfrm>
            <a:off x="4011851" y="7493819"/>
            <a:ext cx="9910043" cy="573427"/>
          </a:xfrm>
          <a:prstGeom prst="rect">
            <a:avLst/>
          </a:prstGeom>
        </p:spPr>
        <p:txBody>
          <a:bodyPr lIns="0" tIns="0" rIns="0" bIns="0" rtlCol="0" anchor="t">
            <a:spAutoFit/>
          </a:bodyPr>
          <a:lstStyle/>
          <a:p>
            <a:pPr algn="ctr">
              <a:lnSpc>
                <a:spcPts val="4900"/>
              </a:lnSpc>
            </a:pPr>
            <a:r>
              <a:rPr lang="en-US" sz="3500" u="sng" dirty="0">
                <a:solidFill>
                  <a:srgbClr val="2C4600"/>
                </a:solidFill>
                <a:latin typeface="Arimo"/>
                <a:ea typeface="Arimo"/>
                <a:cs typeface="Arimo"/>
                <a:sym typeface="Arimo"/>
              </a:rPr>
              <a:t>Kolhapur Institute Of Technology, Kolhapur </a:t>
            </a: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4F0D8"/>
        </a:solidFill>
        <a:effectLst/>
      </p:bgPr>
    </p:bg>
    <p:spTree>
      <p:nvGrpSpPr>
        <p:cNvPr id="1" name=""/>
        <p:cNvGrpSpPr/>
        <p:nvPr/>
      </p:nvGrpSpPr>
      <p:grpSpPr>
        <a:xfrm>
          <a:off x="0" y="0"/>
          <a:ext cx="0" cy="0"/>
          <a:chOff x="0" y="0"/>
          <a:chExt cx="0" cy="0"/>
        </a:xfrm>
      </p:grpSpPr>
      <p:sp>
        <p:nvSpPr>
          <p:cNvPr id="2" name="Freeform 2"/>
          <p:cNvSpPr/>
          <p:nvPr/>
        </p:nvSpPr>
        <p:spPr>
          <a:xfrm>
            <a:off x="-4164295" y="6986796"/>
            <a:ext cx="8328590" cy="6600408"/>
          </a:xfrm>
          <a:custGeom>
            <a:avLst/>
            <a:gdLst/>
            <a:ahLst/>
            <a:cxnLst/>
            <a:rect l="l" t="t" r="r" b="b"/>
            <a:pathLst>
              <a:path w="8328590" h="6600408">
                <a:moveTo>
                  <a:pt x="0" y="0"/>
                </a:moveTo>
                <a:lnTo>
                  <a:pt x="8328590" y="0"/>
                </a:lnTo>
                <a:lnTo>
                  <a:pt x="8328590" y="6600408"/>
                </a:lnTo>
                <a:lnTo>
                  <a:pt x="0" y="66004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3631678" y="7446153"/>
            <a:ext cx="10608642" cy="11546822"/>
          </a:xfrm>
          <a:custGeom>
            <a:avLst/>
            <a:gdLst/>
            <a:ahLst/>
            <a:cxnLst/>
            <a:rect l="l" t="t" r="r" b="b"/>
            <a:pathLst>
              <a:path w="10608642" h="11546822">
                <a:moveTo>
                  <a:pt x="0" y="0"/>
                </a:moveTo>
                <a:lnTo>
                  <a:pt x="10608643" y="0"/>
                </a:lnTo>
                <a:lnTo>
                  <a:pt x="10608643" y="11546822"/>
                </a:lnTo>
                <a:lnTo>
                  <a:pt x="0" y="1154682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849365">
            <a:off x="-209999" y="7200900"/>
            <a:ext cx="3463913" cy="4114800"/>
          </a:xfrm>
          <a:custGeom>
            <a:avLst/>
            <a:gdLst/>
            <a:ahLst/>
            <a:cxnLst/>
            <a:rect l="l" t="t" r="r" b="b"/>
            <a:pathLst>
              <a:path w="3463913" h="4114800">
                <a:moveTo>
                  <a:pt x="0" y="0"/>
                </a:moveTo>
                <a:lnTo>
                  <a:pt x="3463914" y="0"/>
                </a:lnTo>
                <a:lnTo>
                  <a:pt x="3463914"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3704487" y="8229600"/>
            <a:ext cx="2356658" cy="4114800"/>
          </a:xfrm>
          <a:custGeom>
            <a:avLst/>
            <a:gdLst/>
            <a:ahLst/>
            <a:cxnLst/>
            <a:rect l="l" t="t" r="r" b="b"/>
            <a:pathLst>
              <a:path w="2356658" h="4114800">
                <a:moveTo>
                  <a:pt x="0" y="0"/>
                </a:moveTo>
                <a:lnTo>
                  <a:pt x="2356659" y="0"/>
                </a:lnTo>
                <a:lnTo>
                  <a:pt x="2356659"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rot="9891071">
            <a:off x="13768657" y="-4710460"/>
            <a:ext cx="8328590" cy="6600408"/>
          </a:xfrm>
          <a:custGeom>
            <a:avLst/>
            <a:gdLst/>
            <a:ahLst/>
            <a:cxnLst/>
            <a:rect l="l" t="t" r="r" b="b"/>
            <a:pathLst>
              <a:path w="8328590" h="6600408">
                <a:moveTo>
                  <a:pt x="0" y="0"/>
                </a:moveTo>
                <a:lnTo>
                  <a:pt x="8328591" y="0"/>
                </a:lnTo>
                <a:lnTo>
                  <a:pt x="8328591" y="6600407"/>
                </a:lnTo>
                <a:lnTo>
                  <a:pt x="0" y="66004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p:cNvSpPr/>
          <p:nvPr/>
        </p:nvSpPr>
        <p:spPr>
          <a:xfrm rot="9891071">
            <a:off x="10247754" y="-9577219"/>
            <a:ext cx="10608642" cy="11546822"/>
          </a:xfrm>
          <a:custGeom>
            <a:avLst/>
            <a:gdLst/>
            <a:ahLst/>
            <a:cxnLst/>
            <a:rect l="l" t="t" r="r" b="b"/>
            <a:pathLst>
              <a:path w="10608642" h="11546822">
                <a:moveTo>
                  <a:pt x="0" y="0"/>
                </a:moveTo>
                <a:lnTo>
                  <a:pt x="10608642" y="0"/>
                </a:lnTo>
                <a:lnTo>
                  <a:pt x="10608642" y="11546822"/>
                </a:lnTo>
                <a:lnTo>
                  <a:pt x="0" y="1154682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rot="9891071">
            <a:off x="15012761" y="-1456000"/>
            <a:ext cx="3463913" cy="4114800"/>
          </a:xfrm>
          <a:custGeom>
            <a:avLst/>
            <a:gdLst/>
            <a:ahLst/>
            <a:cxnLst/>
            <a:rect l="l" t="t" r="r" b="b"/>
            <a:pathLst>
              <a:path w="3463913" h="4114800">
                <a:moveTo>
                  <a:pt x="0" y="0"/>
                </a:moveTo>
                <a:lnTo>
                  <a:pt x="3463914" y="0"/>
                </a:lnTo>
                <a:lnTo>
                  <a:pt x="3463914"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p:cNvSpPr/>
          <p:nvPr/>
        </p:nvSpPr>
        <p:spPr>
          <a:xfrm rot="9891071">
            <a:off x="12402248" y="-2057400"/>
            <a:ext cx="2356658" cy="4114800"/>
          </a:xfrm>
          <a:custGeom>
            <a:avLst/>
            <a:gdLst/>
            <a:ahLst/>
            <a:cxnLst/>
            <a:rect l="l" t="t" r="r" b="b"/>
            <a:pathLst>
              <a:path w="2356658" h="4114800">
                <a:moveTo>
                  <a:pt x="0" y="0"/>
                </a:moveTo>
                <a:lnTo>
                  <a:pt x="2356658" y="0"/>
                </a:lnTo>
                <a:lnTo>
                  <a:pt x="2356658"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0" name="Freeform 10"/>
          <p:cNvSpPr/>
          <p:nvPr/>
        </p:nvSpPr>
        <p:spPr>
          <a:xfrm>
            <a:off x="16514775" y="8229600"/>
            <a:ext cx="1489050" cy="2519931"/>
          </a:xfrm>
          <a:custGeom>
            <a:avLst/>
            <a:gdLst/>
            <a:ahLst/>
            <a:cxnLst/>
            <a:rect l="l" t="t" r="r" b="b"/>
            <a:pathLst>
              <a:path w="1489050" h="2519931">
                <a:moveTo>
                  <a:pt x="0" y="0"/>
                </a:moveTo>
                <a:lnTo>
                  <a:pt x="1489050" y="0"/>
                </a:lnTo>
                <a:lnTo>
                  <a:pt x="1489050" y="2519931"/>
                </a:lnTo>
                <a:lnTo>
                  <a:pt x="0" y="2519931"/>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1" name="Freeform 11"/>
          <p:cNvSpPr/>
          <p:nvPr/>
        </p:nvSpPr>
        <p:spPr>
          <a:xfrm flipV="1">
            <a:off x="284175" y="-433465"/>
            <a:ext cx="1489050" cy="2519931"/>
          </a:xfrm>
          <a:custGeom>
            <a:avLst/>
            <a:gdLst/>
            <a:ahLst/>
            <a:cxnLst/>
            <a:rect l="l" t="t" r="r" b="b"/>
            <a:pathLst>
              <a:path w="1489050" h="2519931">
                <a:moveTo>
                  <a:pt x="0" y="2519931"/>
                </a:moveTo>
                <a:lnTo>
                  <a:pt x="1489050" y="2519931"/>
                </a:lnTo>
                <a:lnTo>
                  <a:pt x="1489050" y="0"/>
                </a:lnTo>
                <a:lnTo>
                  <a:pt x="0" y="0"/>
                </a:lnTo>
                <a:lnTo>
                  <a:pt x="0" y="2519931"/>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2" name="TextBox 12"/>
          <p:cNvSpPr txBox="1"/>
          <p:nvPr/>
        </p:nvSpPr>
        <p:spPr>
          <a:xfrm>
            <a:off x="3707777" y="1975587"/>
            <a:ext cx="7338693" cy="1133525"/>
          </a:xfrm>
          <a:prstGeom prst="rect">
            <a:avLst/>
          </a:prstGeom>
        </p:spPr>
        <p:txBody>
          <a:bodyPr lIns="0" tIns="0" rIns="0" bIns="0" rtlCol="0" anchor="t">
            <a:spAutoFit/>
          </a:bodyPr>
          <a:lstStyle/>
          <a:p>
            <a:pPr algn="ctr">
              <a:lnSpc>
                <a:spcPts val="8231"/>
              </a:lnSpc>
            </a:pPr>
            <a:r>
              <a:rPr lang="en-US" sz="9461" b="1" dirty="0">
                <a:solidFill>
                  <a:srgbClr val="2C4600"/>
                </a:solidFill>
                <a:latin typeface="Century Gothic Paneuropean Bold"/>
                <a:ea typeface="Century Gothic Paneuropean Bold"/>
                <a:cs typeface="Century Gothic Paneuropean Bold"/>
                <a:sym typeface="Century Gothic Paneuropean Bold"/>
              </a:rPr>
              <a:t>OUR TEAM</a:t>
            </a:r>
          </a:p>
        </p:txBody>
      </p:sp>
      <p:sp>
        <p:nvSpPr>
          <p:cNvPr id="13" name="Freeform 13"/>
          <p:cNvSpPr/>
          <p:nvPr/>
        </p:nvSpPr>
        <p:spPr>
          <a:xfrm>
            <a:off x="4577653" y="4072372"/>
            <a:ext cx="289647" cy="361098"/>
          </a:xfrm>
          <a:custGeom>
            <a:avLst/>
            <a:gdLst/>
            <a:ahLst/>
            <a:cxnLst/>
            <a:rect l="l" t="t" r="r" b="b"/>
            <a:pathLst>
              <a:path w="289647" h="361098">
                <a:moveTo>
                  <a:pt x="0" y="0"/>
                </a:moveTo>
                <a:lnTo>
                  <a:pt x="289647" y="0"/>
                </a:lnTo>
                <a:lnTo>
                  <a:pt x="289647" y="361098"/>
                </a:lnTo>
                <a:lnTo>
                  <a:pt x="0" y="361098"/>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4" name="TextBox 14"/>
          <p:cNvSpPr txBox="1"/>
          <p:nvPr/>
        </p:nvSpPr>
        <p:spPr>
          <a:xfrm>
            <a:off x="5029200" y="5621670"/>
            <a:ext cx="6256886" cy="573427"/>
          </a:xfrm>
          <a:prstGeom prst="rect">
            <a:avLst/>
          </a:prstGeom>
        </p:spPr>
        <p:txBody>
          <a:bodyPr wrap="square" lIns="0" tIns="0" rIns="0" bIns="0" rtlCol="0" anchor="t">
            <a:spAutoFit/>
          </a:bodyPr>
          <a:lstStyle/>
          <a:p>
            <a:pPr algn="l">
              <a:lnSpc>
                <a:spcPts val="4900"/>
              </a:lnSpc>
            </a:pPr>
            <a:r>
              <a:rPr lang="en-US" sz="3500" dirty="0">
                <a:solidFill>
                  <a:srgbClr val="2C4600"/>
                </a:solidFill>
                <a:latin typeface="Arimo"/>
                <a:ea typeface="Arimo"/>
                <a:cs typeface="Arimo"/>
                <a:sym typeface="Arimo"/>
              </a:rPr>
              <a:t>Adarsh Gurav                    B73</a:t>
            </a:r>
          </a:p>
        </p:txBody>
      </p:sp>
      <p:sp>
        <p:nvSpPr>
          <p:cNvPr id="15" name="Freeform 15"/>
          <p:cNvSpPr/>
          <p:nvPr/>
        </p:nvSpPr>
        <p:spPr>
          <a:xfrm>
            <a:off x="4577653" y="4900073"/>
            <a:ext cx="289647" cy="361098"/>
          </a:xfrm>
          <a:custGeom>
            <a:avLst/>
            <a:gdLst/>
            <a:ahLst/>
            <a:cxnLst/>
            <a:rect l="l" t="t" r="r" b="b"/>
            <a:pathLst>
              <a:path w="289647" h="361098">
                <a:moveTo>
                  <a:pt x="0" y="0"/>
                </a:moveTo>
                <a:lnTo>
                  <a:pt x="289647" y="0"/>
                </a:lnTo>
                <a:lnTo>
                  <a:pt x="289647" y="361098"/>
                </a:lnTo>
                <a:lnTo>
                  <a:pt x="0" y="361098"/>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6" name="TextBox 16"/>
          <p:cNvSpPr txBox="1"/>
          <p:nvPr/>
        </p:nvSpPr>
        <p:spPr>
          <a:xfrm>
            <a:off x="5029200" y="6449432"/>
            <a:ext cx="6256886" cy="573427"/>
          </a:xfrm>
          <a:prstGeom prst="rect">
            <a:avLst/>
          </a:prstGeom>
        </p:spPr>
        <p:txBody>
          <a:bodyPr wrap="square" lIns="0" tIns="0" rIns="0" bIns="0" rtlCol="0" anchor="t">
            <a:spAutoFit/>
          </a:bodyPr>
          <a:lstStyle/>
          <a:p>
            <a:pPr algn="l">
              <a:lnSpc>
                <a:spcPts val="4900"/>
              </a:lnSpc>
            </a:pPr>
            <a:r>
              <a:rPr lang="en-US" sz="3500" dirty="0">
                <a:solidFill>
                  <a:srgbClr val="2C4600"/>
                </a:solidFill>
                <a:latin typeface="Arimo"/>
                <a:ea typeface="Arimo"/>
                <a:cs typeface="Arimo"/>
                <a:sym typeface="Arimo"/>
              </a:rPr>
              <a:t>Sanket </a:t>
            </a:r>
            <a:r>
              <a:rPr lang="en-US" sz="3500" dirty="0" err="1">
                <a:solidFill>
                  <a:srgbClr val="2C4600"/>
                </a:solidFill>
                <a:latin typeface="Arimo"/>
                <a:ea typeface="Arimo"/>
                <a:cs typeface="Arimo"/>
                <a:sym typeface="Arimo"/>
              </a:rPr>
              <a:t>Magdum</a:t>
            </a:r>
            <a:r>
              <a:rPr lang="en-US" sz="3500" dirty="0">
                <a:solidFill>
                  <a:srgbClr val="2C4600"/>
                </a:solidFill>
                <a:latin typeface="Arimo"/>
                <a:ea typeface="Arimo"/>
                <a:cs typeface="Arimo"/>
                <a:sym typeface="Arimo"/>
              </a:rPr>
              <a:t>                B77</a:t>
            </a:r>
          </a:p>
        </p:txBody>
      </p:sp>
      <p:sp>
        <p:nvSpPr>
          <p:cNvPr id="17" name="Freeform 17"/>
          <p:cNvSpPr/>
          <p:nvPr/>
        </p:nvSpPr>
        <p:spPr>
          <a:xfrm>
            <a:off x="4577653" y="5727774"/>
            <a:ext cx="289647" cy="361098"/>
          </a:xfrm>
          <a:custGeom>
            <a:avLst/>
            <a:gdLst/>
            <a:ahLst/>
            <a:cxnLst/>
            <a:rect l="l" t="t" r="r" b="b"/>
            <a:pathLst>
              <a:path w="289647" h="361098">
                <a:moveTo>
                  <a:pt x="0" y="0"/>
                </a:moveTo>
                <a:lnTo>
                  <a:pt x="289647" y="0"/>
                </a:lnTo>
                <a:lnTo>
                  <a:pt x="289647" y="361098"/>
                </a:lnTo>
                <a:lnTo>
                  <a:pt x="0" y="361098"/>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8" name="TextBox 18"/>
          <p:cNvSpPr txBox="1"/>
          <p:nvPr/>
        </p:nvSpPr>
        <p:spPr>
          <a:xfrm>
            <a:off x="5029200" y="4029123"/>
            <a:ext cx="6256886" cy="573427"/>
          </a:xfrm>
          <a:prstGeom prst="rect">
            <a:avLst/>
          </a:prstGeom>
        </p:spPr>
        <p:txBody>
          <a:bodyPr wrap="square" lIns="0" tIns="0" rIns="0" bIns="0" rtlCol="0" anchor="t">
            <a:spAutoFit/>
          </a:bodyPr>
          <a:lstStyle/>
          <a:p>
            <a:pPr algn="l">
              <a:lnSpc>
                <a:spcPts val="4900"/>
              </a:lnSpc>
            </a:pPr>
            <a:r>
              <a:rPr lang="en-US" sz="3500" dirty="0">
                <a:solidFill>
                  <a:srgbClr val="2C4600"/>
                </a:solidFill>
                <a:latin typeface="Arimo"/>
                <a:ea typeface="Arimo"/>
                <a:cs typeface="Arimo"/>
                <a:sym typeface="Arimo"/>
              </a:rPr>
              <a:t>Anusha Patil                      B44</a:t>
            </a:r>
          </a:p>
        </p:txBody>
      </p:sp>
      <p:sp>
        <p:nvSpPr>
          <p:cNvPr id="19" name="Freeform 19"/>
          <p:cNvSpPr/>
          <p:nvPr/>
        </p:nvSpPr>
        <p:spPr>
          <a:xfrm>
            <a:off x="4577653" y="6555597"/>
            <a:ext cx="289647" cy="361098"/>
          </a:xfrm>
          <a:custGeom>
            <a:avLst/>
            <a:gdLst/>
            <a:ahLst/>
            <a:cxnLst/>
            <a:rect l="l" t="t" r="r" b="b"/>
            <a:pathLst>
              <a:path w="289647" h="361098">
                <a:moveTo>
                  <a:pt x="0" y="0"/>
                </a:moveTo>
                <a:lnTo>
                  <a:pt x="289647" y="0"/>
                </a:lnTo>
                <a:lnTo>
                  <a:pt x="289647" y="361099"/>
                </a:lnTo>
                <a:lnTo>
                  <a:pt x="0" y="361099"/>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20" name="TextBox 20"/>
          <p:cNvSpPr txBox="1"/>
          <p:nvPr/>
        </p:nvSpPr>
        <p:spPr>
          <a:xfrm>
            <a:off x="5029200" y="4793908"/>
            <a:ext cx="6256886" cy="573427"/>
          </a:xfrm>
          <a:prstGeom prst="rect">
            <a:avLst/>
          </a:prstGeom>
        </p:spPr>
        <p:txBody>
          <a:bodyPr wrap="square" lIns="0" tIns="0" rIns="0" bIns="0" rtlCol="0" anchor="t">
            <a:spAutoFit/>
          </a:bodyPr>
          <a:lstStyle/>
          <a:p>
            <a:pPr algn="l">
              <a:lnSpc>
                <a:spcPts val="4900"/>
              </a:lnSpc>
            </a:pPr>
            <a:r>
              <a:rPr lang="en-US" sz="3500" dirty="0">
                <a:solidFill>
                  <a:srgbClr val="2C4600"/>
                </a:solidFill>
                <a:latin typeface="Arimo"/>
                <a:ea typeface="Arimo"/>
                <a:cs typeface="Arimo"/>
                <a:sym typeface="Arimo"/>
              </a:rPr>
              <a:t>Pratik Patil                         B46</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4F0D8"/>
        </a:solidFill>
        <a:effectLst/>
      </p:bgPr>
    </p:bg>
    <p:spTree>
      <p:nvGrpSpPr>
        <p:cNvPr id="1" name=""/>
        <p:cNvGrpSpPr/>
        <p:nvPr/>
      </p:nvGrpSpPr>
      <p:grpSpPr>
        <a:xfrm>
          <a:off x="0" y="0"/>
          <a:ext cx="0" cy="0"/>
          <a:chOff x="0" y="0"/>
          <a:chExt cx="0" cy="0"/>
        </a:xfrm>
      </p:grpSpPr>
      <p:sp>
        <p:nvSpPr>
          <p:cNvPr id="2" name="Freeform 2"/>
          <p:cNvSpPr/>
          <p:nvPr/>
        </p:nvSpPr>
        <p:spPr>
          <a:xfrm>
            <a:off x="-4164295" y="6986796"/>
            <a:ext cx="8328590" cy="6600408"/>
          </a:xfrm>
          <a:custGeom>
            <a:avLst/>
            <a:gdLst/>
            <a:ahLst/>
            <a:cxnLst/>
            <a:rect l="l" t="t" r="r" b="b"/>
            <a:pathLst>
              <a:path w="8328590" h="6600408">
                <a:moveTo>
                  <a:pt x="0" y="0"/>
                </a:moveTo>
                <a:lnTo>
                  <a:pt x="8328590" y="0"/>
                </a:lnTo>
                <a:lnTo>
                  <a:pt x="8328590" y="6600408"/>
                </a:lnTo>
                <a:lnTo>
                  <a:pt x="0" y="66004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3631678" y="7446153"/>
            <a:ext cx="10608642" cy="11546822"/>
          </a:xfrm>
          <a:custGeom>
            <a:avLst/>
            <a:gdLst/>
            <a:ahLst/>
            <a:cxnLst/>
            <a:rect l="l" t="t" r="r" b="b"/>
            <a:pathLst>
              <a:path w="10608642" h="11546822">
                <a:moveTo>
                  <a:pt x="0" y="0"/>
                </a:moveTo>
                <a:lnTo>
                  <a:pt x="10608643" y="0"/>
                </a:lnTo>
                <a:lnTo>
                  <a:pt x="10608643" y="11546822"/>
                </a:lnTo>
                <a:lnTo>
                  <a:pt x="0" y="1154682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849365">
            <a:off x="-209999" y="7200900"/>
            <a:ext cx="3463913" cy="4114800"/>
          </a:xfrm>
          <a:custGeom>
            <a:avLst/>
            <a:gdLst/>
            <a:ahLst/>
            <a:cxnLst/>
            <a:rect l="l" t="t" r="r" b="b"/>
            <a:pathLst>
              <a:path w="3463913" h="4114800">
                <a:moveTo>
                  <a:pt x="0" y="0"/>
                </a:moveTo>
                <a:lnTo>
                  <a:pt x="3463914" y="0"/>
                </a:lnTo>
                <a:lnTo>
                  <a:pt x="3463914"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3704487" y="8229600"/>
            <a:ext cx="2356658" cy="4114800"/>
          </a:xfrm>
          <a:custGeom>
            <a:avLst/>
            <a:gdLst/>
            <a:ahLst/>
            <a:cxnLst/>
            <a:rect l="l" t="t" r="r" b="b"/>
            <a:pathLst>
              <a:path w="2356658" h="4114800">
                <a:moveTo>
                  <a:pt x="0" y="0"/>
                </a:moveTo>
                <a:lnTo>
                  <a:pt x="2356659" y="0"/>
                </a:lnTo>
                <a:lnTo>
                  <a:pt x="2356659"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rot="9891071">
            <a:off x="13768657" y="-4710460"/>
            <a:ext cx="8328590" cy="6600408"/>
          </a:xfrm>
          <a:custGeom>
            <a:avLst/>
            <a:gdLst/>
            <a:ahLst/>
            <a:cxnLst/>
            <a:rect l="l" t="t" r="r" b="b"/>
            <a:pathLst>
              <a:path w="8328590" h="6600408">
                <a:moveTo>
                  <a:pt x="0" y="0"/>
                </a:moveTo>
                <a:lnTo>
                  <a:pt x="8328591" y="0"/>
                </a:lnTo>
                <a:lnTo>
                  <a:pt x="8328591" y="6600407"/>
                </a:lnTo>
                <a:lnTo>
                  <a:pt x="0" y="66004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p:cNvSpPr/>
          <p:nvPr/>
        </p:nvSpPr>
        <p:spPr>
          <a:xfrm rot="9891071">
            <a:off x="10247754" y="-9577219"/>
            <a:ext cx="10608642" cy="11546822"/>
          </a:xfrm>
          <a:custGeom>
            <a:avLst/>
            <a:gdLst/>
            <a:ahLst/>
            <a:cxnLst/>
            <a:rect l="l" t="t" r="r" b="b"/>
            <a:pathLst>
              <a:path w="10608642" h="11546822">
                <a:moveTo>
                  <a:pt x="0" y="0"/>
                </a:moveTo>
                <a:lnTo>
                  <a:pt x="10608642" y="0"/>
                </a:lnTo>
                <a:lnTo>
                  <a:pt x="10608642" y="11546822"/>
                </a:lnTo>
                <a:lnTo>
                  <a:pt x="0" y="1154682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rot="9891071">
            <a:off x="15012761" y="-1456000"/>
            <a:ext cx="3463913" cy="4114800"/>
          </a:xfrm>
          <a:custGeom>
            <a:avLst/>
            <a:gdLst/>
            <a:ahLst/>
            <a:cxnLst/>
            <a:rect l="l" t="t" r="r" b="b"/>
            <a:pathLst>
              <a:path w="3463913" h="4114800">
                <a:moveTo>
                  <a:pt x="0" y="0"/>
                </a:moveTo>
                <a:lnTo>
                  <a:pt x="3463914" y="0"/>
                </a:lnTo>
                <a:lnTo>
                  <a:pt x="3463914"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p:cNvSpPr/>
          <p:nvPr/>
        </p:nvSpPr>
        <p:spPr>
          <a:xfrm rot="9891071">
            <a:off x="12402248" y="-2057400"/>
            <a:ext cx="2356658" cy="4114800"/>
          </a:xfrm>
          <a:custGeom>
            <a:avLst/>
            <a:gdLst/>
            <a:ahLst/>
            <a:cxnLst/>
            <a:rect l="l" t="t" r="r" b="b"/>
            <a:pathLst>
              <a:path w="2356658" h="4114800">
                <a:moveTo>
                  <a:pt x="0" y="0"/>
                </a:moveTo>
                <a:lnTo>
                  <a:pt x="2356658" y="0"/>
                </a:lnTo>
                <a:lnTo>
                  <a:pt x="2356658"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0" name="Freeform 10"/>
          <p:cNvSpPr/>
          <p:nvPr/>
        </p:nvSpPr>
        <p:spPr>
          <a:xfrm>
            <a:off x="16514775" y="8229600"/>
            <a:ext cx="1489050" cy="2519931"/>
          </a:xfrm>
          <a:custGeom>
            <a:avLst/>
            <a:gdLst/>
            <a:ahLst/>
            <a:cxnLst/>
            <a:rect l="l" t="t" r="r" b="b"/>
            <a:pathLst>
              <a:path w="1489050" h="2519931">
                <a:moveTo>
                  <a:pt x="0" y="0"/>
                </a:moveTo>
                <a:lnTo>
                  <a:pt x="1489050" y="0"/>
                </a:lnTo>
                <a:lnTo>
                  <a:pt x="1489050" y="2519931"/>
                </a:lnTo>
                <a:lnTo>
                  <a:pt x="0" y="2519931"/>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1" name="Freeform 11"/>
          <p:cNvSpPr/>
          <p:nvPr/>
        </p:nvSpPr>
        <p:spPr>
          <a:xfrm flipV="1">
            <a:off x="284175" y="-433465"/>
            <a:ext cx="1489050" cy="2519931"/>
          </a:xfrm>
          <a:custGeom>
            <a:avLst/>
            <a:gdLst/>
            <a:ahLst/>
            <a:cxnLst/>
            <a:rect l="l" t="t" r="r" b="b"/>
            <a:pathLst>
              <a:path w="1489050" h="2519931">
                <a:moveTo>
                  <a:pt x="0" y="2519931"/>
                </a:moveTo>
                <a:lnTo>
                  <a:pt x="1489050" y="2519931"/>
                </a:lnTo>
                <a:lnTo>
                  <a:pt x="1489050" y="0"/>
                </a:lnTo>
                <a:lnTo>
                  <a:pt x="0" y="0"/>
                </a:lnTo>
                <a:lnTo>
                  <a:pt x="0" y="2519931"/>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2" name="TextBox 12"/>
          <p:cNvSpPr txBox="1"/>
          <p:nvPr/>
        </p:nvSpPr>
        <p:spPr>
          <a:xfrm>
            <a:off x="1811325" y="1211251"/>
            <a:ext cx="9780960" cy="1133525"/>
          </a:xfrm>
          <a:prstGeom prst="rect">
            <a:avLst/>
          </a:prstGeom>
        </p:spPr>
        <p:txBody>
          <a:bodyPr lIns="0" tIns="0" rIns="0" bIns="0" rtlCol="0" anchor="t">
            <a:spAutoFit/>
          </a:bodyPr>
          <a:lstStyle/>
          <a:p>
            <a:pPr algn="ctr">
              <a:lnSpc>
                <a:spcPts val="8231"/>
              </a:lnSpc>
            </a:pPr>
            <a:r>
              <a:rPr lang="en-US" sz="9461" b="1" dirty="0">
                <a:solidFill>
                  <a:srgbClr val="2C4600"/>
                </a:solidFill>
                <a:latin typeface="Century Gothic Paneuropean Bold"/>
                <a:ea typeface="Century Gothic Paneuropean Bold"/>
                <a:cs typeface="Century Gothic Paneuropean Bold"/>
                <a:sym typeface="Century Gothic Paneuropean Bold"/>
              </a:rPr>
              <a:t>ABSTRACT</a:t>
            </a:r>
          </a:p>
        </p:txBody>
      </p:sp>
      <p:sp>
        <p:nvSpPr>
          <p:cNvPr id="13" name="TextBox 13"/>
          <p:cNvSpPr txBox="1"/>
          <p:nvPr/>
        </p:nvSpPr>
        <p:spPr>
          <a:xfrm>
            <a:off x="922804" y="2960372"/>
            <a:ext cx="15621000" cy="4812921"/>
          </a:xfrm>
          <a:prstGeom prst="rect">
            <a:avLst/>
          </a:prstGeom>
        </p:spPr>
        <p:txBody>
          <a:bodyPr wrap="square" lIns="0" tIns="0" rIns="0" bIns="0" rtlCol="0" anchor="t">
            <a:spAutoFit/>
          </a:bodyPr>
          <a:lstStyle/>
          <a:p>
            <a:pPr algn="ctr"/>
            <a:r>
              <a:rPr lang="en-US" sz="4000" dirty="0">
                <a:solidFill>
                  <a:srgbClr val="2C4600"/>
                </a:solidFill>
                <a:latin typeface="Arimo"/>
                <a:ea typeface="Arimo"/>
                <a:cs typeface="Arimo"/>
                <a:sym typeface="Arimo"/>
              </a:rPr>
              <a:t>This project presents a 3D interactive map of Kolhapur District that provides information about </a:t>
            </a:r>
            <a:r>
              <a:rPr lang="en-US" sz="4000" u="sng" dirty="0">
                <a:solidFill>
                  <a:srgbClr val="2C4600"/>
                </a:solidFill>
                <a:latin typeface="Arimo"/>
                <a:ea typeface="Arimo"/>
                <a:cs typeface="Arimo"/>
                <a:sym typeface="Arimo"/>
              </a:rPr>
              <a:t>Historical and Tourism</a:t>
            </a:r>
            <a:r>
              <a:rPr lang="en-US" sz="4000" dirty="0">
                <a:solidFill>
                  <a:srgbClr val="2C4600"/>
                </a:solidFill>
                <a:latin typeface="Arimo"/>
                <a:ea typeface="Arimo"/>
                <a:cs typeface="Arimo"/>
                <a:sym typeface="Arimo"/>
              </a:rPr>
              <a:t> places in different languages with audio support. </a:t>
            </a:r>
          </a:p>
          <a:p>
            <a:pPr algn="ctr"/>
            <a:endParaRPr lang="en-US" sz="4000" dirty="0">
              <a:solidFill>
                <a:srgbClr val="2C4600"/>
              </a:solidFill>
              <a:latin typeface="Arimo"/>
              <a:ea typeface="Arimo"/>
              <a:cs typeface="Arimo"/>
              <a:sym typeface="Arimo"/>
            </a:endParaRPr>
          </a:p>
          <a:p>
            <a:pPr algn="ctr"/>
            <a:r>
              <a:rPr lang="en-US" sz="4000" dirty="0">
                <a:solidFill>
                  <a:srgbClr val="2C4600"/>
                </a:solidFill>
                <a:latin typeface="Arimo"/>
                <a:ea typeface="Arimo"/>
                <a:cs typeface="Arimo"/>
                <a:sym typeface="Arimo"/>
              </a:rPr>
              <a:t>The objective is to improve accessibility and enhance tourism experiences. The system integrates </a:t>
            </a:r>
            <a:r>
              <a:rPr lang="en-US" sz="4000" u="sng" dirty="0">
                <a:solidFill>
                  <a:srgbClr val="2C4600"/>
                </a:solidFill>
                <a:latin typeface="Arimo"/>
                <a:ea typeface="Arimo"/>
                <a:cs typeface="Arimo"/>
                <a:sym typeface="Arimo"/>
              </a:rPr>
              <a:t>Mapping APIs</a:t>
            </a:r>
            <a:r>
              <a:rPr lang="en-US" sz="4000" dirty="0">
                <a:solidFill>
                  <a:srgbClr val="2C4600"/>
                </a:solidFill>
                <a:latin typeface="Arimo"/>
                <a:ea typeface="Arimo"/>
                <a:cs typeface="Arimo"/>
                <a:sym typeface="Arimo"/>
              </a:rPr>
              <a:t>, Multi-Language text-to-speech technologies, and user-friendly interfaces.</a:t>
            </a:r>
          </a:p>
          <a:p>
            <a:pPr algn="ctr">
              <a:lnSpc>
                <a:spcPts val="4340"/>
              </a:lnSpc>
            </a:pPr>
            <a:endParaRPr lang="en-US" sz="3100" dirty="0">
              <a:solidFill>
                <a:srgbClr val="2C4600"/>
              </a:solidFill>
              <a:latin typeface="Arimo"/>
              <a:ea typeface="Arimo"/>
              <a:cs typeface="Arimo"/>
              <a:sym typeface="Arimo"/>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4F0D8"/>
        </a:solidFill>
        <a:effectLst/>
      </p:bgPr>
    </p:bg>
    <p:spTree>
      <p:nvGrpSpPr>
        <p:cNvPr id="1" name=""/>
        <p:cNvGrpSpPr/>
        <p:nvPr/>
      </p:nvGrpSpPr>
      <p:grpSpPr>
        <a:xfrm>
          <a:off x="0" y="0"/>
          <a:ext cx="0" cy="0"/>
          <a:chOff x="0" y="0"/>
          <a:chExt cx="0" cy="0"/>
        </a:xfrm>
      </p:grpSpPr>
      <p:sp>
        <p:nvSpPr>
          <p:cNvPr id="2" name="Freeform 2"/>
          <p:cNvSpPr/>
          <p:nvPr/>
        </p:nvSpPr>
        <p:spPr>
          <a:xfrm>
            <a:off x="-4164295" y="6986796"/>
            <a:ext cx="8328590" cy="6600408"/>
          </a:xfrm>
          <a:custGeom>
            <a:avLst/>
            <a:gdLst/>
            <a:ahLst/>
            <a:cxnLst/>
            <a:rect l="l" t="t" r="r" b="b"/>
            <a:pathLst>
              <a:path w="8328590" h="6600408">
                <a:moveTo>
                  <a:pt x="0" y="0"/>
                </a:moveTo>
                <a:lnTo>
                  <a:pt x="8328590" y="0"/>
                </a:lnTo>
                <a:lnTo>
                  <a:pt x="8328590" y="6600408"/>
                </a:lnTo>
                <a:lnTo>
                  <a:pt x="0" y="66004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3631678" y="7446153"/>
            <a:ext cx="10608642" cy="11546822"/>
          </a:xfrm>
          <a:custGeom>
            <a:avLst/>
            <a:gdLst/>
            <a:ahLst/>
            <a:cxnLst/>
            <a:rect l="l" t="t" r="r" b="b"/>
            <a:pathLst>
              <a:path w="10608642" h="11546822">
                <a:moveTo>
                  <a:pt x="0" y="0"/>
                </a:moveTo>
                <a:lnTo>
                  <a:pt x="10608643" y="0"/>
                </a:lnTo>
                <a:lnTo>
                  <a:pt x="10608643" y="11546822"/>
                </a:lnTo>
                <a:lnTo>
                  <a:pt x="0" y="1154682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849365">
            <a:off x="-209999" y="7200900"/>
            <a:ext cx="3463913" cy="4114800"/>
          </a:xfrm>
          <a:custGeom>
            <a:avLst/>
            <a:gdLst/>
            <a:ahLst/>
            <a:cxnLst/>
            <a:rect l="l" t="t" r="r" b="b"/>
            <a:pathLst>
              <a:path w="3463913" h="4114800">
                <a:moveTo>
                  <a:pt x="0" y="0"/>
                </a:moveTo>
                <a:lnTo>
                  <a:pt x="3463914" y="0"/>
                </a:lnTo>
                <a:lnTo>
                  <a:pt x="3463914"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3704487" y="8229600"/>
            <a:ext cx="2356658" cy="4114800"/>
          </a:xfrm>
          <a:custGeom>
            <a:avLst/>
            <a:gdLst/>
            <a:ahLst/>
            <a:cxnLst/>
            <a:rect l="l" t="t" r="r" b="b"/>
            <a:pathLst>
              <a:path w="2356658" h="4114800">
                <a:moveTo>
                  <a:pt x="0" y="0"/>
                </a:moveTo>
                <a:lnTo>
                  <a:pt x="2356659" y="0"/>
                </a:lnTo>
                <a:lnTo>
                  <a:pt x="2356659"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rot="9891071">
            <a:off x="13768657" y="-4710460"/>
            <a:ext cx="8328590" cy="6600408"/>
          </a:xfrm>
          <a:custGeom>
            <a:avLst/>
            <a:gdLst/>
            <a:ahLst/>
            <a:cxnLst/>
            <a:rect l="l" t="t" r="r" b="b"/>
            <a:pathLst>
              <a:path w="8328590" h="6600408">
                <a:moveTo>
                  <a:pt x="0" y="0"/>
                </a:moveTo>
                <a:lnTo>
                  <a:pt x="8328591" y="0"/>
                </a:lnTo>
                <a:lnTo>
                  <a:pt x="8328591" y="6600407"/>
                </a:lnTo>
                <a:lnTo>
                  <a:pt x="0" y="66004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p:cNvSpPr/>
          <p:nvPr/>
        </p:nvSpPr>
        <p:spPr>
          <a:xfrm rot="9891071">
            <a:off x="10247754" y="-9577219"/>
            <a:ext cx="10608642" cy="11546822"/>
          </a:xfrm>
          <a:custGeom>
            <a:avLst/>
            <a:gdLst/>
            <a:ahLst/>
            <a:cxnLst/>
            <a:rect l="l" t="t" r="r" b="b"/>
            <a:pathLst>
              <a:path w="10608642" h="11546822">
                <a:moveTo>
                  <a:pt x="0" y="0"/>
                </a:moveTo>
                <a:lnTo>
                  <a:pt x="10608642" y="0"/>
                </a:lnTo>
                <a:lnTo>
                  <a:pt x="10608642" y="11546822"/>
                </a:lnTo>
                <a:lnTo>
                  <a:pt x="0" y="1154682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rot="9891071">
            <a:off x="15012761" y="-1456000"/>
            <a:ext cx="3463913" cy="4114800"/>
          </a:xfrm>
          <a:custGeom>
            <a:avLst/>
            <a:gdLst/>
            <a:ahLst/>
            <a:cxnLst/>
            <a:rect l="l" t="t" r="r" b="b"/>
            <a:pathLst>
              <a:path w="3463913" h="4114800">
                <a:moveTo>
                  <a:pt x="0" y="0"/>
                </a:moveTo>
                <a:lnTo>
                  <a:pt x="3463914" y="0"/>
                </a:lnTo>
                <a:lnTo>
                  <a:pt x="3463914"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p:cNvSpPr/>
          <p:nvPr/>
        </p:nvSpPr>
        <p:spPr>
          <a:xfrm rot="9891071">
            <a:off x="12402248" y="-2057400"/>
            <a:ext cx="2356658" cy="4114800"/>
          </a:xfrm>
          <a:custGeom>
            <a:avLst/>
            <a:gdLst/>
            <a:ahLst/>
            <a:cxnLst/>
            <a:rect l="l" t="t" r="r" b="b"/>
            <a:pathLst>
              <a:path w="2356658" h="4114800">
                <a:moveTo>
                  <a:pt x="0" y="0"/>
                </a:moveTo>
                <a:lnTo>
                  <a:pt x="2356658" y="0"/>
                </a:lnTo>
                <a:lnTo>
                  <a:pt x="2356658"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0" name="Freeform 10"/>
          <p:cNvSpPr/>
          <p:nvPr/>
        </p:nvSpPr>
        <p:spPr>
          <a:xfrm>
            <a:off x="16514775" y="8229600"/>
            <a:ext cx="1489050" cy="2519931"/>
          </a:xfrm>
          <a:custGeom>
            <a:avLst/>
            <a:gdLst/>
            <a:ahLst/>
            <a:cxnLst/>
            <a:rect l="l" t="t" r="r" b="b"/>
            <a:pathLst>
              <a:path w="1489050" h="2519931">
                <a:moveTo>
                  <a:pt x="0" y="0"/>
                </a:moveTo>
                <a:lnTo>
                  <a:pt x="1489050" y="0"/>
                </a:lnTo>
                <a:lnTo>
                  <a:pt x="1489050" y="2519931"/>
                </a:lnTo>
                <a:lnTo>
                  <a:pt x="0" y="2519931"/>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1" name="Freeform 11"/>
          <p:cNvSpPr/>
          <p:nvPr/>
        </p:nvSpPr>
        <p:spPr>
          <a:xfrm flipV="1">
            <a:off x="284175" y="-433465"/>
            <a:ext cx="1489050" cy="2519931"/>
          </a:xfrm>
          <a:custGeom>
            <a:avLst/>
            <a:gdLst/>
            <a:ahLst/>
            <a:cxnLst/>
            <a:rect l="l" t="t" r="r" b="b"/>
            <a:pathLst>
              <a:path w="1489050" h="2519931">
                <a:moveTo>
                  <a:pt x="0" y="2519931"/>
                </a:moveTo>
                <a:lnTo>
                  <a:pt x="1489050" y="2519931"/>
                </a:lnTo>
                <a:lnTo>
                  <a:pt x="1489050" y="0"/>
                </a:lnTo>
                <a:lnTo>
                  <a:pt x="0" y="0"/>
                </a:lnTo>
                <a:lnTo>
                  <a:pt x="0" y="2519931"/>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2" name="TextBox 12"/>
          <p:cNvSpPr txBox="1"/>
          <p:nvPr/>
        </p:nvSpPr>
        <p:spPr>
          <a:xfrm>
            <a:off x="2086484" y="1540553"/>
            <a:ext cx="9780960" cy="1133525"/>
          </a:xfrm>
          <a:prstGeom prst="rect">
            <a:avLst/>
          </a:prstGeom>
        </p:spPr>
        <p:txBody>
          <a:bodyPr lIns="0" tIns="0" rIns="0" bIns="0" rtlCol="0" anchor="t">
            <a:spAutoFit/>
          </a:bodyPr>
          <a:lstStyle/>
          <a:p>
            <a:pPr algn="ctr">
              <a:lnSpc>
                <a:spcPts val="8231"/>
              </a:lnSpc>
            </a:pPr>
            <a:r>
              <a:rPr lang="en-US" sz="9461" b="1" dirty="0">
                <a:solidFill>
                  <a:srgbClr val="2C4600"/>
                </a:solidFill>
                <a:latin typeface="Century Gothic Paneuropean Bold"/>
                <a:ea typeface="Century Gothic Paneuropean Bold"/>
                <a:cs typeface="Century Gothic Paneuropean Bold"/>
                <a:sym typeface="Century Gothic Paneuropean Bold"/>
              </a:rPr>
              <a:t>INTRODUCTION</a:t>
            </a:r>
          </a:p>
        </p:txBody>
      </p:sp>
      <p:sp>
        <p:nvSpPr>
          <p:cNvPr id="15" name="TextBox 14">
            <a:extLst>
              <a:ext uri="{FF2B5EF4-FFF2-40B4-BE49-F238E27FC236}">
                <a16:creationId xmlns:a16="http://schemas.microsoft.com/office/drawing/2014/main" id="{23B6AC82-EBF9-5A36-84F9-CA22CC88B1EA}"/>
              </a:ext>
            </a:extLst>
          </p:cNvPr>
          <p:cNvSpPr txBox="1"/>
          <p:nvPr/>
        </p:nvSpPr>
        <p:spPr>
          <a:xfrm>
            <a:off x="685800" y="3067758"/>
            <a:ext cx="16687800" cy="4503797"/>
          </a:xfrm>
          <a:prstGeom prst="rect">
            <a:avLst/>
          </a:prstGeom>
          <a:noFill/>
        </p:spPr>
        <p:txBody>
          <a:bodyPr wrap="square" rtlCol="0">
            <a:spAutoFit/>
          </a:bodyPr>
          <a:lstStyle/>
          <a:p>
            <a:pPr marL="457200" indent="-457200">
              <a:lnSpc>
                <a:spcPts val="4340"/>
              </a:lnSpc>
              <a:buFont typeface="Arial" panose="020B0604020202020204" pitchFamily="34" charset="0"/>
              <a:buChar char="•"/>
            </a:pPr>
            <a:r>
              <a:rPr lang="en-US" sz="3600" b="1" u="sng" dirty="0">
                <a:solidFill>
                  <a:srgbClr val="2C4600"/>
                </a:solidFill>
                <a:latin typeface="Arimo"/>
                <a:ea typeface="Arimo"/>
                <a:cs typeface="Arimo"/>
                <a:sym typeface="Arimo"/>
              </a:rPr>
              <a:t>Background</a:t>
            </a:r>
            <a:r>
              <a:rPr lang="en-US" sz="3600" dirty="0">
                <a:solidFill>
                  <a:srgbClr val="2C4600"/>
                </a:solidFill>
                <a:latin typeface="Arimo"/>
                <a:ea typeface="Arimo"/>
                <a:cs typeface="Arimo"/>
                <a:sym typeface="Arimo"/>
              </a:rPr>
              <a:t> </a:t>
            </a:r>
            <a:r>
              <a:rPr lang="en-US" sz="3600" b="1" dirty="0">
                <a:solidFill>
                  <a:srgbClr val="2C4600"/>
                </a:solidFill>
                <a:latin typeface="Arimo"/>
                <a:ea typeface="Arimo"/>
                <a:cs typeface="Arimo"/>
                <a:sym typeface="Arimo"/>
              </a:rPr>
              <a:t>:</a:t>
            </a:r>
            <a:r>
              <a:rPr lang="en-US" sz="3600" dirty="0">
                <a:solidFill>
                  <a:srgbClr val="2C4600"/>
                </a:solidFill>
                <a:latin typeface="Arimo"/>
                <a:ea typeface="Arimo"/>
                <a:cs typeface="Arimo"/>
                <a:sym typeface="Arimo"/>
              </a:rPr>
              <a:t> Tourism and cultural heritage of Kolhapur. Which will increase the 			    interaction between the people, also helps to find out the                			    information easily. </a:t>
            </a:r>
          </a:p>
          <a:p>
            <a:pPr marL="457200" indent="-457200">
              <a:lnSpc>
                <a:spcPts val="4340"/>
              </a:lnSpc>
              <a:buFont typeface="Arial" panose="020B0604020202020204" pitchFamily="34" charset="0"/>
              <a:buChar char="•"/>
            </a:pPr>
            <a:endParaRPr lang="en-US" sz="3600" dirty="0">
              <a:solidFill>
                <a:srgbClr val="2C4600"/>
              </a:solidFill>
              <a:latin typeface="Arimo"/>
              <a:ea typeface="Arimo"/>
              <a:cs typeface="Arimo"/>
              <a:sym typeface="Arimo"/>
            </a:endParaRPr>
          </a:p>
          <a:p>
            <a:pPr marL="571500" indent="-571500">
              <a:lnSpc>
                <a:spcPts val="4340"/>
              </a:lnSpc>
              <a:buFont typeface="Arial" panose="020B0604020202020204" pitchFamily="34" charset="0"/>
              <a:buChar char="•"/>
            </a:pPr>
            <a:r>
              <a:rPr lang="en-US" sz="3600" b="1" u="sng" dirty="0">
                <a:solidFill>
                  <a:srgbClr val="2C4600"/>
                </a:solidFill>
                <a:latin typeface="Arimo"/>
                <a:ea typeface="Arimo"/>
                <a:cs typeface="Arimo"/>
                <a:sym typeface="Arimo"/>
              </a:rPr>
              <a:t>Motivation</a:t>
            </a:r>
            <a:r>
              <a:rPr lang="en-US" sz="3600" b="1" dirty="0">
                <a:solidFill>
                  <a:srgbClr val="2C4600"/>
                </a:solidFill>
                <a:latin typeface="Arimo"/>
                <a:ea typeface="Arimo"/>
                <a:cs typeface="Arimo"/>
                <a:sym typeface="Arimo"/>
              </a:rPr>
              <a:t> : </a:t>
            </a:r>
            <a:r>
              <a:rPr lang="en-US" sz="3600" dirty="0">
                <a:solidFill>
                  <a:srgbClr val="2C4600"/>
                </a:solidFill>
                <a:latin typeface="Arimo"/>
                <a:ea typeface="Arimo"/>
                <a:cs typeface="Arimo"/>
                <a:sym typeface="Arimo"/>
              </a:rPr>
              <a:t>Promote tourism and ensure accessibility for all. Tourism is one of  			  the important factor in day to day life. There are many cases in 				  which people get wrong  information. To avoid these things and for   			  proper guidance this website or project is really </a:t>
            </a:r>
            <a:r>
              <a:rPr lang="en-US" sz="3600" dirty="0" err="1">
                <a:solidFill>
                  <a:srgbClr val="2C4600"/>
                </a:solidFill>
                <a:latin typeface="Arimo"/>
                <a:ea typeface="Arimo"/>
                <a:cs typeface="Arimo"/>
                <a:sym typeface="Arimo"/>
              </a:rPr>
              <a:t>usefull</a:t>
            </a:r>
            <a:r>
              <a:rPr lang="en-US" sz="3600" dirty="0">
                <a:solidFill>
                  <a:srgbClr val="2C4600"/>
                </a:solidFill>
                <a:latin typeface="Arimo"/>
                <a:ea typeface="Arimo"/>
                <a:cs typeface="Arimo"/>
                <a:sym typeface="Arimo"/>
              </a:rPr>
              <a:t>.                                   </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4F0D8"/>
        </a:solidFill>
        <a:effectLst/>
      </p:bgPr>
    </p:bg>
    <p:spTree>
      <p:nvGrpSpPr>
        <p:cNvPr id="1" name=""/>
        <p:cNvGrpSpPr/>
        <p:nvPr/>
      </p:nvGrpSpPr>
      <p:grpSpPr>
        <a:xfrm>
          <a:off x="0" y="0"/>
          <a:ext cx="0" cy="0"/>
          <a:chOff x="0" y="0"/>
          <a:chExt cx="0" cy="0"/>
        </a:xfrm>
      </p:grpSpPr>
      <p:sp>
        <p:nvSpPr>
          <p:cNvPr id="2" name="Freeform 2"/>
          <p:cNvSpPr/>
          <p:nvPr/>
        </p:nvSpPr>
        <p:spPr>
          <a:xfrm>
            <a:off x="-4164295" y="6986796"/>
            <a:ext cx="8328590" cy="6600408"/>
          </a:xfrm>
          <a:custGeom>
            <a:avLst/>
            <a:gdLst/>
            <a:ahLst/>
            <a:cxnLst/>
            <a:rect l="l" t="t" r="r" b="b"/>
            <a:pathLst>
              <a:path w="8328590" h="6600408">
                <a:moveTo>
                  <a:pt x="0" y="0"/>
                </a:moveTo>
                <a:lnTo>
                  <a:pt x="8328590" y="0"/>
                </a:lnTo>
                <a:lnTo>
                  <a:pt x="8328590" y="6600408"/>
                </a:lnTo>
                <a:lnTo>
                  <a:pt x="0" y="66004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3631678" y="7446153"/>
            <a:ext cx="10608642" cy="11546822"/>
          </a:xfrm>
          <a:custGeom>
            <a:avLst/>
            <a:gdLst/>
            <a:ahLst/>
            <a:cxnLst/>
            <a:rect l="l" t="t" r="r" b="b"/>
            <a:pathLst>
              <a:path w="10608642" h="11546822">
                <a:moveTo>
                  <a:pt x="0" y="0"/>
                </a:moveTo>
                <a:lnTo>
                  <a:pt x="10608643" y="0"/>
                </a:lnTo>
                <a:lnTo>
                  <a:pt x="10608643" y="11546822"/>
                </a:lnTo>
                <a:lnTo>
                  <a:pt x="0" y="1154682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849365">
            <a:off x="-209999" y="7200900"/>
            <a:ext cx="3463913" cy="4114800"/>
          </a:xfrm>
          <a:custGeom>
            <a:avLst/>
            <a:gdLst/>
            <a:ahLst/>
            <a:cxnLst/>
            <a:rect l="l" t="t" r="r" b="b"/>
            <a:pathLst>
              <a:path w="3463913" h="4114800">
                <a:moveTo>
                  <a:pt x="0" y="0"/>
                </a:moveTo>
                <a:lnTo>
                  <a:pt x="3463914" y="0"/>
                </a:lnTo>
                <a:lnTo>
                  <a:pt x="3463914"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3704487" y="8229600"/>
            <a:ext cx="2356658" cy="4114800"/>
          </a:xfrm>
          <a:custGeom>
            <a:avLst/>
            <a:gdLst/>
            <a:ahLst/>
            <a:cxnLst/>
            <a:rect l="l" t="t" r="r" b="b"/>
            <a:pathLst>
              <a:path w="2356658" h="4114800">
                <a:moveTo>
                  <a:pt x="0" y="0"/>
                </a:moveTo>
                <a:lnTo>
                  <a:pt x="2356659" y="0"/>
                </a:lnTo>
                <a:lnTo>
                  <a:pt x="2356659"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rot="9891071">
            <a:off x="13768657" y="-4710460"/>
            <a:ext cx="8328590" cy="6600408"/>
          </a:xfrm>
          <a:custGeom>
            <a:avLst/>
            <a:gdLst/>
            <a:ahLst/>
            <a:cxnLst/>
            <a:rect l="l" t="t" r="r" b="b"/>
            <a:pathLst>
              <a:path w="8328590" h="6600408">
                <a:moveTo>
                  <a:pt x="0" y="0"/>
                </a:moveTo>
                <a:lnTo>
                  <a:pt x="8328591" y="0"/>
                </a:lnTo>
                <a:lnTo>
                  <a:pt x="8328591" y="6600407"/>
                </a:lnTo>
                <a:lnTo>
                  <a:pt x="0" y="66004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p:cNvSpPr/>
          <p:nvPr/>
        </p:nvSpPr>
        <p:spPr>
          <a:xfrm rot="9891071">
            <a:off x="10247754" y="-9577219"/>
            <a:ext cx="10608642" cy="11546822"/>
          </a:xfrm>
          <a:custGeom>
            <a:avLst/>
            <a:gdLst/>
            <a:ahLst/>
            <a:cxnLst/>
            <a:rect l="l" t="t" r="r" b="b"/>
            <a:pathLst>
              <a:path w="10608642" h="11546822">
                <a:moveTo>
                  <a:pt x="0" y="0"/>
                </a:moveTo>
                <a:lnTo>
                  <a:pt x="10608642" y="0"/>
                </a:lnTo>
                <a:lnTo>
                  <a:pt x="10608642" y="11546822"/>
                </a:lnTo>
                <a:lnTo>
                  <a:pt x="0" y="1154682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rot="9891071">
            <a:off x="15012761" y="-1456000"/>
            <a:ext cx="3463913" cy="4114800"/>
          </a:xfrm>
          <a:custGeom>
            <a:avLst/>
            <a:gdLst/>
            <a:ahLst/>
            <a:cxnLst/>
            <a:rect l="l" t="t" r="r" b="b"/>
            <a:pathLst>
              <a:path w="3463913" h="4114800">
                <a:moveTo>
                  <a:pt x="0" y="0"/>
                </a:moveTo>
                <a:lnTo>
                  <a:pt x="3463914" y="0"/>
                </a:lnTo>
                <a:lnTo>
                  <a:pt x="3463914"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p:cNvSpPr/>
          <p:nvPr/>
        </p:nvSpPr>
        <p:spPr>
          <a:xfrm rot="9891071">
            <a:off x="12402248" y="-2057400"/>
            <a:ext cx="2356658" cy="4114800"/>
          </a:xfrm>
          <a:custGeom>
            <a:avLst/>
            <a:gdLst/>
            <a:ahLst/>
            <a:cxnLst/>
            <a:rect l="l" t="t" r="r" b="b"/>
            <a:pathLst>
              <a:path w="2356658" h="4114800">
                <a:moveTo>
                  <a:pt x="0" y="0"/>
                </a:moveTo>
                <a:lnTo>
                  <a:pt x="2356658" y="0"/>
                </a:lnTo>
                <a:lnTo>
                  <a:pt x="2356658"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0" name="Freeform 10"/>
          <p:cNvSpPr/>
          <p:nvPr/>
        </p:nvSpPr>
        <p:spPr>
          <a:xfrm>
            <a:off x="16514775" y="8229600"/>
            <a:ext cx="1489050" cy="2519931"/>
          </a:xfrm>
          <a:custGeom>
            <a:avLst/>
            <a:gdLst/>
            <a:ahLst/>
            <a:cxnLst/>
            <a:rect l="l" t="t" r="r" b="b"/>
            <a:pathLst>
              <a:path w="1489050" h="2519931">
                <a:moveTo>
                  <a:pt x="0" y="0"/>
                </a:moveTo>
                <a:lnTo>
                  <a:pt x="1489050" y="0"/>
                </a:lnTo>
                <a:lnTo>
                  <a:pt x="1489050" y="2519931"/>
                </a:lnTo>
                <a:lnTo>
                  <a:pt x="0" y="2519931"/>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1" name="Freeform 11"/>
          <p:cNvSpPr/>
          <p:nvPr/>
        </p:nvSpPr>
        <p:spPr>
          <a:xfrm flipV="1">
            <a:off x="284175" y="-433465"/>
            <a:ext cx="1489050" cy="2519931"/>
          </a:xfrm>
          <a:custGeom>
            <a:avLst/>
            <a:gdLst/>
            <a:ahLst/>
            <a:cxnLst/>
            <a:rect l="l" t="t" r="r" b="b"/>
            <a:pathLst>
              <a:path w="1489050" h="2519931">
                <a:moveTo>
                  <a:pt x="0" y="2519931"/>
                </a:moveTo>
                <a:lnTo>
                  <a:pt x="1489050" y="2519931"/>
                </a:lnTo>
                <a:lnTo>
                  <a:pt x="1489050" y="0"/>
                </a:lnTo>
                <a:lnTo>
                  <a:pt x="0" y="0"/>
                </a:lnTo>
                <a:lnTo>
                  <a:pt x="0" y="2519931"/>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2" name="TextBox 12"/>
          <p:cNvSpPr txBox="1"/>
          <p:nvPr/>
        </p:nvSpPr>
        <p:spPr>
          <a:xfrm>
            <a:off x="998443" y="1793106"/>
            <a:ext cx="12773487" cy="1133525"/>
          </a:xfrm>
          <a:prstGeom prst="rect">
            <a:avLst/>
          </a:prstGeom>
        </p:spPr>
        <p:txBody>
          <a:bodyPr lIns="0" tIns="0" rIns="0" bIns="0" rtlCol="0" anchor="t">
            <a:spAutoFit/>
          </a:bodyPr>
          <a:lstStyle/>
          <a:p>
            <a:pPr algn="ctr">
              <a:lnSpc>
                <a:spcPts val="8231"/>
              </a:lnSpc>
            </a:pPr>
            <a:r>
              <a:rPr lang="en-US" sz="9461" b="1" dirty="0">
                <a:solidFill>
                  <a:srgbClr val="2C4600"/>
                </a:solidFill>
                <a:latin typeface="Century Gothic Paneuropean Bold"/>
                <a:ea typeface="Century Gothic Paneuropean Bold"/>
                <a:cs typeface="Century Gothic Paneuropean Bold"/>
                <a:sym typeface="Century Gothic Paneuropean Bold"/>
              </a:rPr>
              <a:t>PROBLEM STATEMENT</a:t>
            </a:r>
          </a:p>
        </p:txBody>
      </p:sp>
      <p:sp>
        <p:nvSpPr>
          <p:cNvPr id="13" name="TextBox 13"/>
          <p:cNvSpPr txBox="1"/>
          <p:nvPr/>
        </p:nvSpPr>
        <p:spPr>
          <a:xfrm>
            <a:off x="1501362" y="4121617"/>
            <a:ext cx="11996638" cy="2169159"/>
          </a:xfrm>
          <a:prstGeom prst="rect">
            <a:avLst/>
          </a:prstGeom>
        </p:spPr>
        <p:txBody>
          <a:bodyPr lIns="0" tIns="0" rIns="0" bIns="0" rtlCol="0" anchor="t">
            <a:spAutoFit/>
          </a:bodyPr>
          <a:lstStyle/>
          <a:p>
            <a:pPr marL="457200" indent="-457200" algn="l">
              <a:lnSpc>
                <a:spcPts val="4340"/>
              </a:lnSpc>
              <a:buFont typeface="Wingdings" panose="05000000000000000000" pitchFamily="2" charset="2"/>
              <a:buChar char="§"/>
            </a:pPr>
            <a:r>
              <a:rPr lang="en-US" sz="3100" dirty="0">
                <a:solidFill>
                  <a:srgbClr val="2C4600"/>
                </a:solidFill>
                <a:latin typeface="Arimo"/>
                <a:ea typeface="Arimo"/>
                <a:cs typeface="Arimo"/>
                <a:sym typeface="Arimo"/>
              </a:rPr>
              <a:t>Development of a Smart Digital Platform to Promote Eco &amp; Cultural Tourism in Jharkhand.</a:t>
            </a:r>
          </a:p>
          <a:p>
            <a:pPr marL="457200" indent="-457200" algn="l">
              <a:lnSpc>
                <a:spcPts val="4340"/>
              </a:lnSpc>
              <a:buFont typeface="Wingdings" panose="05000000000000000000" pitchFamily="2" charset="2"/>
              <a:buChar char="§"/>
            </a:pPr>
            <a:r>
              <a:rPr lang="en-US" sz="3100" dirty="0">
                <a:solidFill>
                  <a:srgbClr val="2C4600"/>
                </a:solidFill>
                <a:latin typeface="Arimo"/>
                <a:ea typeface="Arimo"/>
                <a:cs typeface="Arimo"/>
                <a:sym typeface="Arimo"/>
              </a:rPr>
              <a:t>ID : SIH25032</a:t>
            </a:r>
          </a:p>
          <a:p>
            <a:pPr marL="457200" indent="-457200" algn="l">
              <a:lnSpc>
                <a:spcPts val="4340"/>
              </a:lnSpc>
              <a:buFont typeface="Wingdings" panose="05000000000000000000" pitchFamily="2" charset="2"/>
              <a:buChar char="§"/>
            </a:pPr>
            <a:r>
              <a:rPr lang="en-US" sz="3100" dirty="0">
                <a:solidFill>
                  <a:srgbClr val="2C4600"/>
                </a:solidFill>
                <a:latin typeface="Arimo"/>
                <a:ea typeface="Arimo"/>
                <a:cs typeface="Arimo"/>
                <a:sym typeface="Arimo"/>
              </a:rPr>
              <a:t>Sector : Travel and Tourism</a:t>
            </a:r>
          </a:p>
        </p:txBody>
      </p:sp>
      <p:sp>
        <p:nvSpPr>
          <p:cNvPr id="14" name="TextBox 14"/>
          <p:cNvSpPr txBox="1"/>
          <p:nvPr/>
        </p:nvSpPr>
        <p:spPr>
          <a:xfrm>
            <a:off x="1521957" y="3092960"/>
            <a:ext cx="5443438" cy="504049"/>
          </a:xfrm>
          <a:prstGeom prst="rect">
            <a:avLst/>
          </a:prstGeom>
        </p:spPr>
        <p:txBody>
          <a:bodyPr wrap="square" lIns="0" tIns="0" rIns="0" bIns="0" rtlCol="0" anchor="t">
            <a:spAutoFit/>
          </a:bodyPr>
          <a:lstStyle/>
          <a:p>
            <a:pPr algn="l">
              <a:lnSpc>
                <a:spcPts val="4340"/>
              </a:lnSpc>
            </a:pPr>
            <a:r>
              <a:rPr lang="en-US" sz="3100" b="1" u="sng" dirty="0">
                <a:solidFill>
                  <a:srgbClr val="2C4600"/>
                </a:solidFill>
                <a:latin typeface="Arimo"/>
                <a:ea typeface="Arimo"/>
                <a:cs typeface="Arimo"/>
                <a:sym typeface="Arimo"/>
              </a:rPr>
              <a:t>From Smart India </a:t>
            </a:r>
            <a:r>
              <a:rPr lang="en-US" sz="3100" b="1" u="sng" dirty="0" err="1">
                <a:solidFill>
                  <a:srgbClr val="2C4600"/>
                </a:solidFill>
                <a:latin typeface="Arimo"/>
                <a:ea typeface="Arimo"/>
                <a:cs typeface="Arimo"/>
                <a:sym typeface="Arimo"/>
              </a:rPr>
              <a:t>Hackthon</a:t>
            </a:r>
            <a:r>
              <a:rPr lang="en-US" sz="3100" b="1" u="sng" dirty="0">
                <a:solidFill>
                  <a:srgbClr val="2C4600"/>
                </a:solidFill>
                <a:latin typeface="Arimo"/>
                <a:ea typeface="Arimo"/>
                <a:cs typeface="Arimo"/>
                <a:sym typeface="Arimo"/>
              </a:rPr>
              <a:t>:- </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4F0D8"/>
        </a:solidFill>
        <a:effectLst/>
      </p:bgPr>
    </p:bg>
    <p:spTree>
      <p:nvGrpSpPr>
        <p:cNvPr id="1" name=""/>
        <p:cNvGrpSpPr/>
        <p:nvPr/>
      </p:nvGrpSpPr>
      <p:grpSpPr>
        <a:xfrm>
          <a:off x="0" y="0"/>
          <a:ext cx="0" cy="0"/>
          <a:chOff x="0" y="0"/>
          <a:chExt cx="0" cy="0"/>
        </a:xfrm>
      </p:grpSpPr>
      <p:sp>
        <p:nvSpPr>
          <p:cNvPr id="2" name="Freeform 2"/>
          <p:cNvSpPr/>
          <p:nvPr/>
        </p:nvSpPr>
        <p:spPr>
          <a:xfrm>
            <a:off x="-4164295" y="6986796"/>
            <a:ext cx="8328590" cy="6600408"/>
          </a:xfrm>
          <a:custGeom>
            <a:avLst/>
            <a:gdLst/>
            <a:ahLst/>
            <a:cxnLst/>
            <a:rect l="l" t="t" r="r" b="b"/>
            <a:pathLst>
              <a:path w="8328590" h="6600408">
                <a:moveTo>
                  <a:pt x="0" y="0"/>
                </a:moveTo>
                <a:lnTo>
                  <a:pt x="8328590" y="0"/>
                </a:lnTo>
                <a:lnTo>
                  <a:pt x="8328590" y="6600408"/>
                </a:lnTo>
                <a:lnTo>
                  <a:pt x="0" y="66004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3631678" y="7446153"/>
            <a:ext cx="10608642" cy="11546822"/>
          </a:xfrm>
          <a:custGeom>
            <a:avLst/>
            <a:gdLst/>
            <a:ahLst/>
            <a:cxnLst/>
            <a:rect l="l" t="t" r="r" b="b"/>
            <a:pathLst>
              <a:path w="10608642" h="11546822">
                <a:moveTo>
                  <a:pt x="0" y="0"/>
                </a:moveTo>
                <a:lnTo>
                  <a:pt x="10608643" y="0"/>
                </a:lnTo>
                <a:lnTo>
                  <a:pt x="10608643" y="11546822"/>
                </a:lnTo>
                <a:lnTo>
                  <a:pt x="0" y="1154682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849365">
            <a:off x="-209999" y="7200900"/>
            <a:ext cx="3463913" cy="4114800"/>
          </a:xfrm>
          <a:custGeom>
            <a:avLst/>
            <a:gdLst/>
            <a:ahLst/>
            <a:cxnLst/>
            <a:rect l="l" t="t" r="r" b="b"/>
            <a:pathLst>
              <a:path w="3463913" h="4114800">
                <a:moveTo>
                  <a:pt x="0" y="0"/>
                </a:moveTo>
                <a:lnTo>
                  <a:pt x="3463914" y="0"/>
                </a:lnTo>
                <a:lnTo>
                  <a:pt x="3463914"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3704487" y="8229600"/>
            <a:ext cx="2356658" cy="4114800"/>
          </a:xfrm>
          <a:custGeom>
            <a:avLst/>
            <a:gdLst/>
            <a:ahLst/>
            <a:cxnLst/>
            <a:rect l="l" t="t" r="r" b="b"/>
            <a:pathLst>
              <a:path w="2356658" h="4114800">
                <a:moveTo>
                  <a:pt x="0" y="0"/>
                </a:moveTo>
                <a:lnTo>
                  <a:pt x="2356659" y="0"/>
                </a:lnTo>
                <a:lnTo>
                  <a:pt x="2356659"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rot="9891071">
            <a:off x="13768657" y="-4710460"/>
            <a:ext cx="8328590" cy="6600408"/>
          </a:xfrm>
          <a:custGeom>
            <a:avLst/>
            <a:gdLst/>
            <a:ahLst/>
            <a:cxnLst/>
            <a:rect l="l" t="t" r="r" b="b"/>
            <a:pathLst>
              <a:path w="8328590" h="6600408">
                <a:moveTo>
                  <a:pt x="0" y="0"/>
                </a:moveTo>
                <a:lnTo>
                  <a:pt x="8328591" y="0"/>
                </a:lnTo>
                <a:lnTo>
                  <a:pt x="8328591" y="6600407"/>
                </a:lnTo>
                <a:lnTo>
                  <a:pt x="0" y="66004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p:cNvSpPr/>
          <p:nvPr/>
        </p:nvSpPr>
        <p:spPr>
          <a:xfrm rot="9891071">
            <a:off x="10247754" y="-9577219"/>
            <a:ext cx="10608642" cy="11546822"/>
          </a:xfrm>
          <a:custGeom>
            <a:avLst/>
            <a:gdLst/>
            <a:ahLst/>
            <a:cxnLst/>
            <a:rect l="l" t="t" r="r" b="b"/>
            <a:pathLst>
              <a:path w="10608642" h="11546822">
                <a:moveTo>
                  <a:pt x="0" y="0"/>
                </a:moveTo>
                <a:lnTo>
                  <a:pt x="10608642" y="0"/>
                </a:lnTo>
                <a:lnTo>
                  <a:pt x="10608642" y="11546822"/>
                </a:lnTo>
                <a:lnTo>
                  <a:pt x="0" y="1154682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rot="9891071">
            <a:off x="15012761" y="-1456000"/>
            <a:ext cx="3463913" cy="4114800"/>
          </a:xfrm>
          <a:custGeom>
            <a:avLst/>
            <a:gdLst/>
            <a:ahLst/>
            <a:cxnLst/>
            <a:rect l="l" t="t" r="r" b="b"/>
            <a:pathLst>
              <a:path w="3463913" h="4114800">
                <a:moveTo>
                  <a:pt x="0" y="0"/>
                </a:moveTo>
                <a:lnTo>
                  <a:pt x="3463914" y="0"/>
                </a:lnTo>
                <a:lnTo>
                  <a:pt x="3463914"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p:cNvSpPr/>
          <p:nvPr/>
        </p:nvSpPr>
        <p:spPr>
          <a:xfrm rot="9891071">
            <a:off x="12402248" y="-2057400"/>
            <a:ext cx="2356658" cy="4114800"/>
          </a:xfrm>
          <a:custGeom>
            <a:avLst/>
            <a:gdLst/>
            <a:ahLst/>
            <a:cxnLst/>
            <a:rect l="l" t="t" r="r" b="b"/>
            <a:pathLst>
              <a:path w="2356658" h="4114800">
                <a:moveTo>
                  <a:pt x="0" y="0"/>
                </a:moveTo>
                <a:lnTo>
                  <a:pt x="2356658" y="0"/>
                </a:lnTo>
                <a:lnTo>
                  <a:pt x="2356658"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0" name="Freeform 10"/>
          <p:cNvSpPr/>
          <p:nvPr/>
        </p:nvSpPr>
        <p:spPr>
          <a:xfrm>
            <a:off x="16514775" y="8229600"/>
            <a:ext cx="1489050" cy="2519931"/>
          </a:xfrm>
          <a:custGeom>
            <a:avLst/>
            <a:gdLst/>
            <a:ahLst/>
            <a:cxnLst/>
            <a:rect l="l" t="t" r="r" b="b"/>
            <a:pathLst>
              <a:path w="1489050" h="2519931">
                <a:moveTo>
                  <a:pt x="0" y="0"/>
                </a:moveTo>
                <a:lnTo>
                  <a:pt x="1489050" y="0"/>
                </a:lnTo>
                <a:lnTo>
                  <a:pt x="1489050" y="2519931"/>
                </a:lnTo>
                <a:lnTo>
                  <a:pt x="0" y="2519931"/>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1" name="Freeform 11"/>
          <p:cNvSpPr/>
          <p:nvPr/>
        </p:nvSpPr>
        <p:spPr>
          <a:xfrm flipV="1">
            <a:off x="284175" y="-433465"/>
            <a:ext cx="1489050" cy="2519931"/>
          </a:xfrm>
          <a:custGeom>
            <a:avLst/>
            <a:gdLst/>
            <a:ahLst/>
            <a:cxnLst/>
            <a:rect l="l" t="t" r="r" b="b"/>
            <a:pathLst>
              <a:path w="1489050" h="2519931">
                <a:moveTo>
                  <a:pt x="0" y="2519931"/>
                </a:moveTo>
                <a:lnTo>
                  <a:pt x="1489050" y="2519931"/>
                </a:lnTo>
                <a:lnTo>
                  <a:pt x="1489050" y="0"/>
                </a:lnTo>
                <a:lnTo>
                  <a:pt x="0" y="0"/>
                </a:lnTo>
                <a:lnTo>
                  <a:pt x="0" y="2519931"/>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2" name="TextBox 12"/>
          <p:cNvSpPr txBox="1"/>
          <p:nvPr/>
        </p:nvSpPr>
        <p:spPr>
          <a:xfrm>
            <a:off x="4253520" y="2598635"/>
            <a:ext cx="9780960" cy="1133525"/>
          </a:xfrm>
          <a:prstGeom prst="rect">
            <a:avLst/>
          </a:prstGeom>
        </p:spPr>
        <p:txBody>
          <a:bodyPr lIns="0" tIns="0" rIns="0" bIns="0" rtlCol="0" anchor="t">
            <a:spAutoFit/>
          </a:bodyPr>
          <a:lstStyle/>
          <a:p>
            <a:pPr algn="ctr">
              <a:lnSpc>
                <a:spcPts val="8231"/>
              </a:lnSpc>
            </a:pPr>
            <a:endParaRPr/>
          </a:p>
        </p:txBody>
      </p:sp>
      <p:sp>
        <p:nvSpPr>
          <p:cNvPr id="13" name="TextBox 13"/>
          <p:cNvSpPr txBox="1"/>
          <p:nvPr/>
        </p:nvSpPr>
        <p:spPr>
          <a:xfrm>
            <a:off x="1028700" y="2946358"/>
            <a:ext cx="15486075" cy="5426709"/>
          </a:xfrm>
          <a:prstGeom prst="rect">
            <a:avLst/>
          </a:prstGeom>
        </p:spPr>
        <p:txBody>
          <a:bodyPr lIns="0" tIns="0" rIns="0" bIns="0" rtlCol="0" anchor="t">
            <a:spAutoFit/>
          </a:bodyPr>
          <a:lstStyle/>
          <a:p>
            <a:pPr marL="669301" lvl="1" indent="-334650" algn="l">
              <a:lnSpc>
                <a:spcPts val="4340"/>
              </a:lnSpc>
              <a:buFont typeface="Arial"/>
              <a:buChar char="•"/>
            </a:pPr>
            <a:r>
              <a:rPr lang="en-US" sz="3150" dirty="0">
                <a:solidFill>
                  <a:srgbClr val="2C4600"/>
                </a:solidFill>
                <a:latin typeface="Arimo"/>
                <a:ea typeface="Arimo"/>
                <a:cs typeface="Arimo"/>
                <a:sym typeface="Arimo"/>
              </a:rPr>
              <a:t>Early web maps were 2D; advancement of WebGL enabled real-time 3D visualization.</a:t>
            </a:r>
          </a:p>
          <a:p>
            <a:pPr marL="669301" lvl="1" indent="-334650" algn="l">
              <a:lnSpc>
                <a:spcPts val="4340"/>
              </a:lnSpc>
              <a:buFont typeface="Arial"/>
              <a:buChar char="•"/>
            </a:pPr>
            <a:r>
              <a:rPr lang="en-US" sz="3150" dirty="0">
                <a:solidFill>
                  <a:srgbClr val="2C4600"/>
                </a:solidFill>
                <a:latin typeface="Arimo"/>
                <a:ea typeface="Arimo"/>
                <a:cs typeface="Arimo"/>
                <a:sym typeface="Arimo"/>
              </a:rPr>
              <a:t>Platforms like </a:t>
            </a:r>
            <a:r>
              <a:rPr lang="en-US" sz="3150" dirty="0" err="1">
                <a:solidFill>
                  <a:srgbClr val="2C4600"/>
                </a:solidFill>
                <a:latin typeface="Arimo"/>
                <a:ea typeface="Arimo"/>
                <a:cs typeface="Arimo"/>
                <a:sym typeface="Arimo"/>
              </a:rPr>
              <a:t>Mapbox</a:t>
            </a:r>
            <a:r>
              <a:rPr lang="en-US" sz="3150" dirty="0">
                <a:solidFill>
                  <a:srgbClr val="2C4600"/>
                </a:solidFill>
                <a:latin typeface="Arimo"/>
                <a:ea typeface="Arimo"/>
                <a:cs typeface="Arimo"/>
                <a:sym typeface="Arimo"/>
              </a:rPr>
              <a:t> GL JS and </a:t>
            </a:r>
            <a:r>
              <a:rPr lang="en-US" sz="3150" dirty="0" err="1">
                <a:solidFill>
                  <a:srgbClr val="2C4600"/>
                </a:solidFill>
                <a:latin typeface="Arimo"/>
                <a:ea typeface="Arimo"/>
                <a:cs typeface="Arimo"/>
                <a:sym typeface="Arimo"/>
              </a:rPr>
              <a:t>CesiumJS</a:t>
            </a:r>
            <a:r>
              <a:rPr lang="en-US" sz="3150" dirty="0">
                <a:solidFill>
                  <a:srgbClr val="2C4600"/>
                </a:solidFill>
                <a:latin typeface="Arimo"/>
                <a:ea typeface="Arimo"/>
                <a:cs typeface="Arimo"/>
                <a:sym typeface="Arimo"/>
              </a:rPr>
              <a:t> provide interactive 3D mapping in browsers.</a:t>
            </a:r>
          </a:p>
          <a:p>
            <a:pPr marL="669301" lvl="1" indent="-334650" algn="l">
              <a:lnSpc>
                <a:spcPts val="4340"/>
              </a:lnSpc>
              <a:buFont typeface="Arial"/>
              <a:buChar char="•"/>
            </a:pPr>
            <a:r>
              <a:rPr lang="en-US" sz="3150" dirty="0" err="1">
                <a:solidFill>
                  <a:srgbClr val="2C4600"/>
                </a:solidFill>
                <a:latin typeface="Arimo"/>
                <a:ea typeface="Arimo"/>
                <a:cs typeface="Arimo"/>
                <a:sym typeface="Arimo"/>
              </a:rPr>
              <a:t>CityGML</a:t>
            </a:r>
            <a:r>
              <a:rPr lang="en-US" sz="3150" dirty="0">
                <a:solidFill>
                  <a:srgbClr val="2C4600"/>
                </a:solidFill>
                <a:latin typeface="Arimo"/>
                <a:ea typeface="Arimo"/>
                <a:cs typeface="Arimo"/>
                <a:sym typeface="Arimo"/>
              </a:rPr>
              <a:t> / </a:t>
            </a:r>
            <a:r>
              <a:rPr lang="en-US" sz="3150" dirty="0" err="1">
                <a:solidFill>
                  <a:srgbClr val="2C4600"/>
                </a:solidFill>
                <a:latin typeface="Arimo"/>
                <a:ea typeface="Arimo"/>
                <a:cs typeface="Arimo"/>
                <a:sym typeface="Arimo"/>
              </a:rPr>
              <a:t>CityJSON</a:t>
            </a:r>
            <a:r>
              <a:rPr lang="en-US" sz="3150" dirty="0">
                <a:solidFill>
                  <a:srgbClr val="2C4600"/>
                </a:solidFill>
                <a:latin typeface="Arimo"/>
                <a:ea typeface="Arimo"/>
                <a:cs typeface="Arimo"/>
                <a:sym typeface="Arimo"/>
              </a:rPr>
              <a:t> are widely used standards for representing semantic 3D city models.</a:t>
            </a:r>
          </a:p>
          <a:p>
            <a:pPr marL="669301" lvl="1" indent="-334650" algn="l">
              <a:lnSpc>
                <a:spcPts val="4340"/>
              </a:lnSpc>
              <a:buFont typeface="Arial"/>
              <a:buChar char="•"/>
            </a:pPr>
            <a:r>
              <a:rPr lang="en-US" sz="3150" dirty="0">
                <a:solidFill>
                  <a:srgbClr val="2C4600"/>
                </a:solidFill>
                <a:latin typeface="Arimo"/>
                <a:ea typeface="Arimo"/>
                <a:cs typeface="Arimo"/>
                <a:sym typeface="Arimo"/>
              </a:rPr>
              <a:t>Literature stresses combining semantic models + </a:t>
            </a:r>
            <a:r>
              <a:rPr lang="en-US" sz="3150" dirty="0" err="1">
                <a:solidFill>
                  <a:srgbClr val="2C4600"/>
                </a:solidFill>
                <a:latin typeface="Arimo"/>
                <a:ea typeface="Arimo"/>
                <a:cs typeface="Arimo"/>
                <a:sym typeface="Arimo"/>
              </a:rPr>
              <a:t>streamable</a:t>
            </a:r>
            <a:r>
              <a:rPr lang="en-US" sz="3150" dirty="0">
                <a:solidFill>
                  <a:srgbClr val="2C4600"/>
                </a:solidFill>
                <a:latin typeface="Arimo"/>
                <a:ea typeface="Arimo"/>
                <a:cs typeface="Arimo"/>
                <a:sym typeface="Arimo"/>
              </a:rPr>
              <a:t> formats + efficient rendering for effective 3D maps.</a:t>
            </a:r>
          </a:p>
          <a:p>
            <a:pPr algn="l">
              <a:lnSpc>
                <a:spcPts val="4340"/>
              </a:lnSpc>
            </a:pPr>
            <a:endParaRPr lang="en-US" sz="3150" dirty="0">
              <a:solidFill>
                <a:srgbClr val="2C4600"/>
              </a:solidFill>
              <a:latin typeface="Arimo"/>
              <a:ea typeface="Arimo"/>
              <a:cs typeface="Arimo"/>
              <a:sym typeface="Arimo"/>
            </a:endParaRPr>
          </a:p>
          <a:p>
            <a:pPr algn="l">
              <a:lnSpc>
                <a:spcPts val="4340"/>
              </a:lnSpc>
            </a:pPr>
            <a:endParaRPr lang="en-US" sz="3150" dirty="0">
              <a:solidFill>
                <a:srgbClr val="2C4600"/>
              </a:solidFill>
              <a:latin typeface="Arimo"/>
              <a:ea typeface="Arimo"/>
              <a:cs typeface="Arimo"/>
              <a:sym typeface="Arimo"/>
            </a:endParaRPr>
          </a:p>
        </p:txBody>
      </p:sp>
      <p:sp>
        <p:nvSpPr>
          <p:cNvPr id="14" name="TextBox 14"/>
          <p:cNvSpPr txBox="1"/>
          <p:nvPr/>
        </p:nvSpPr>
        <p:spPr>
          <a:xfrm>
            <a:off x="1798432" y="1250827"/>
            <a:ext cx="12831967" cy="1607534"/>
          </a:xfrm>
          <a:prstGeom prst="rect">
            <a:avLst/>
          </a:prstGeom>
        </p:spPr>
        <p:txBody>
          <a:bodyPr wrap="square" lIns="0" tIns="0" rIns="0" bIns="0" rtlCol="0" anchor="t">
            <a:spAutoFit/>
          </a:bodyPr>
          <a:lstStyle/>
          <a:p>
            <a:pPr>
              <a:lnSpc>
                <a:spcPts val="13245"/>
              </a:lnSpc>
              <a:spcBef>
                <a:spcPct val="0"/>
              </a:spcBef>
            </a:pPr>
            <a:r>
              <a:rPr lang="en-US" sz="9461" b="1" dirty="0">
                <a:solidFill>
                  <a:srgbClr val="2C4600"/>
                </a:solidFill>
                <a:latin typeface="Century Gothic Paneuropean Bold"/>
                <a:ea typeface="Century Gothic Paneuropean Bold"/>
                <a:cs typeface="Century Gothic Paneuropean Bold"/>
                <a:sym typeface="Century Gothic Paneuropean Bold"/>
              </a:rPr>
              <a:t>LITERATURE REVIEW</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4F0D8"/>
        </a:solidFill>
        <a:effectLst/>
      </p:bgPr>
    </p:bg>
    <p:spTree>
      <p:nvGrpSpPr>
        <p:cNvPr id="1" name=""/>
        <p:cNvGrpSpPr/>
        <p:nvPr/>
      </p:nvGrpSpPr>
      <p:grpSpPr>
        <a:xfrm>
          <a:off x="0" y="0"/>
          <a:ext cx="0" cy="0"/>
          <a:chOff x="0" y="0"/>
          <a:chExt cx="0" cy="0"/>
        </a:xfrm>
      </p:grpSpPr>
      <p:sp>
        <p:nvSpPr>
          <p:cNvPr id="2" name="Freeform 2"/>
          <p:cNvSpPr/>
          <p:nvPr/>
        </p:nvSpPr>
        <p:spPr>
          <a:xfrm>
            <a:off x="-4164295" y="6986796"/>
            <a:ext cx="8328590" cy="6600408"/>
          </a:xfrm>
          <a:custGeom>
            <a:avLst/>
            <a:gdLst/>
            <a:ahLst/>
            <a:cxnLst/>
            <a:rect l="l" t="t" r="r" b="b"/>
            <a:pathLst>
              <a:path w="8328590" h="6600408">
                <a:moveTo>
                  <a:pt x="0" y="0"/>
                </a:moveTo>
                <a:lnTo>
                  <a:pt x="8328590" y="0"/>
                </a:lnTo>
                <a:lnTo>
                  <a:pt x="8328590" y="6600408"/>
                </a:lnTo>
                <a:lnTo>
                  <a:pt x="0" y="66004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3631678" y="7446153"/>
            <a:ext cx="10608642" cy="11546822"/>
          </a:xfrm>
          <a:custGeom>
            <a:avLst/>
            <a:gdLst/>
            <a:ahLst/>
            <a:cxnLst/>
            <a:rect l="l" t="t" r="r" b="b"/>
            <a:pathLst>
              <a:path w="10608642" h="11546822">
                <a:moveTo>
                  <a:pt x="0" y="0"/>
                </a:moveTo>
                <a:lnTo>
                  <a:pt x="10608643" y="0"/>
                </a:lnTo>
                <a:lnTo>
                  <a:pt x="10608643" y="11546822"/>
                </a:lnTo>
                <a:lnTo>
                  <a:pt x="0" y="1154682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849365">
            <a:off x="-209999" y="7200900"/>
            <a:ext cx="3463913" cy="4114800"/>
          </a:xfrm>
          <a:custGeom>
            <a:avLst/>
            <a:gdLst/>
            <a:ahLst/>
            <a:cxnLst/>
            <a:rect l="l" t="t" r="r" b="b"/>
            <a:pathLst>
              <a:path w="3463913" h="4114800">
                <a:moveTo>
                  <a:pt x="0" y="0"/>
                </a:moveTo>
                <a:lnTo>
                  <a:pt x="3463914" y="0"/>
                </a:lnTo>
                <a:lnTo>
                  <a:pt x="3463914"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3704487" y="8229600"/>
            <a:ext cx="2356658" cy="4114800"/>
          </a:xfrm>
          <a:custGeom>
            <a:avLst/>
            <a:gdLst/>
            <a:ahLst/>
            <a:cxnLst/>
            <a:rect l="l" t="t" r="r" b="b"/>
            <a:pathLst>
              <a:path w="2356658" h="4114800">
                <a:moveTo>
                  <a:pt x="0" y="0"/>
                </a:moveTo>
                <a:lnTo>
                  <a:pt x="2356659" y="0"/>
                </a:lnTo>
                <a:lnTo>
                  <a:pt x="2356659"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rot="9891071">
            <a:off x="13768657" y="-4710460"/>
            <a:ext cx="8328590" cy="6600408"/>
          </a:xfrm>
          <a:custGeom>
            <a:avLst/>
            <a:gdLst/>
            <a:ahLst/>
            <a:cxnLst/>
            <a:rect l="l" t="t" r="r" b="b"/>
            <a:pathLst>
              <a:path w="8328590" h="6600408">
                <a:moveTo>
                  <a:pt x="0" y="0"/>
                </a:moveTo>
                <a:lnTo>
                  <a:pt x="8328591" y="0"/>
                </a:lnTo>
                <a:lnTo>
                  <a:pt x="8328591" y="6600407"/>
                </a:lnTo>
                <a:lnTo>
                  <a:pt x="0" y="66004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p:cNvSpPr/>
          <p:nvPr/>
        </p:nvSpPr>
        <p:spPr>
          <a:xfrm rot="9891071">
            <a:off x="10247754" y="-9577219"/>
            <a:ext cx="10608642" cy="11546822"/>
          </a:xfrm>
          <a:custGeom>
            <a:avLst/>
            <a:gdLst/>
            <a:ahLst/>
            <a:cxnLst/>
            <a:rect l="l" t="t" r="r" b="b"/>
            <a:pathLst>
              <a:path w="10608642" h="11546822">
                <a:moveTo>
                  <a:pt x="0" y="0"/>
                </a:moveTo>
                <a:lnTo>
                  <a:pt x="10608642" y="0"/>
                </a:lnTo>
                <a:lnTo>
                  <a:pt x="10608642" y="11546822"/>
                </a:lnTo>
                <a:lnTo>
                  <a:pt x="0" y="1154682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rot="9891071">
            <a:off x="15012761" y="-1456000"/>
            <a:ext cx="3463913" cy="4114800"/>
          </a:xfrm>
          <a:custGeom>
            <a:avLst/>
            <a:gdLst/>
            <a:ahLst/>
            <a:cxnLst/>
            <a:rect l="l" t="t" r="r" b="b"/>
            <a:pathLst>
              <a:path w="3463913" h="4114800">
                <a:moveTo>
                  <a:pt x="0" y="0"/>
                </a:moveTo>
                <a:lnTo>
                  <a:pt x="3463914" y="0"/>
                </a:lnTo>
                <a:lnTo>
                  <a:pt x="3463914"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p:cNvSpPr/>
          <p:nvPr/>
        </p:nvSpPr>
        <p:spPr>
          <a:xfrm rot="9891071">
            <a:off x="12354629" y="-2490865"/>
            <a:ext cx="2356658" cy="4114800"/>
          </a:xfrm>
          <a:custGeom>
            <a:avLst/>
            <a:gdLst/>
            <a:ahLst/>
            <a:cxnLst/>
            <a:rect l="l" t="t" r="r" b="b"/>
            <a:pathLst>
              <a:path w="2356658" h="4114800">
                <a:moveTo>
                  <a:pt x="0" y="0"/>
                </a:moveTo>
                <a:lnTo>
                  <a:pt x="2356658" y="0"/>
                </a:lnTo>
                <a:lnTo>
                  <a:pt x="2356658"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0" name="Freeform 10"/>
          <p:cNvSpPr/>
          <p:nvPr/>
        </p:nvSpPr>
        <p:spPr>
          <a:xfrm>
            <a:off x="16514775" y="8229600"/>
            <a:ext cx="1489050" cy="2519931"/>
          </a:xfrm>
          <a:custGeom>
            <a:avLst/>
            <a:gdLst/>
            <a:ahLst/>
            <a:cxnLst/>
            <a:rect l="l" t="t" r="r" b="b"/>
            <a:pathLst>
              <a:path w="1489050" h="2519931">
                <a:moveTo>
                  <a:pt x="0" y="0"/>
                </a:moveTo>
                <a:lnTo>
                  <a:pt x="1489050" y="0"/>
                </a:lnTo>
                <a:lnTo>
                  <a:pt x="1489050" y="2519931"/>
                </a:lnTo>
                <a:lnTo>
                  <a:pt x="0" y="2519931"/>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1" name="Freeform 11"/>
          <p:cNvSpPr/>
          <p:nvPr/>
        </p:nvSpPr>
        <p:spPr>
          <a:xfrm flipV="1">
            <a:off x="284175" y="-433465"/>
            <a:ext cx="1489050" cy="2519931"/>
          </a:xfrm>
          <a:custGeom>
            <a:avLst/>
            <a:gdLst/>
            <a:ahLst/>
            <a:cxnLst/>
            <a:rect l="l" t="t" r="r" b="b"/>
            <a:pathLst>
              <a:path w="1489050" h="2519931">
                <a:moveTo>
                  <a:pt x="0" y="2519931"/>
                </a:moveTo>
                <a:lnTo>
                  <a:pt x="1489050" y="2519931"/>
                </a:lnTo>
                <a:lnTo>
                  <a:pt x="1489050" y="0"/>
                </a:lnTo>
                <a:lnTo>
                  <a:pt x="0" y="0"/>
                </a:lnTo>
                <a:lnTo>
                  <a:pt x="0" y="2519931"/>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2" name="TextBox 12"/>
          <p:cNvSpPr txBox="1"/>
          <p:nvPr/>
        </p:nvSpPr>
        <p:spPr>
          <a:xfrm>
            <a:off x="2494707" y="1348247"/>
            <a:ext cx="9780960" cy="1133525"/>
          </a:xfrm>
          <a:prstGeom prst="rect">
            <a:avLst/>
          </a:prstGeom>
        </p:spPr>
        <p:txBody>
          <a:bodyPr lIns="0" tIns="0" rIns="0" bIns="0" rtlCol="0" anchor="t">
            <a:spAutoFit/>
          </a:bodyPr>
          <a:lstStyle/>
          <a:p>
            <a:pPr algn="ctr">
              <a:lnSpc>
                <a:spcPts val="8231"/>
              </a:lnSpc>
            </a:pPr>
            <a:r>
              <a:rPr lang="en-US" sz="9461" b="1" dirty="0">
                <a:solidFill>
                  <a:srgbClr val="2C4600"/>
                </a:solidFill>
                <a:latin typeface="Century Gothic Paneuropean Bold"/>
                <a:ea typeface="Century Gothic Paneuropean Bold"/>
                <a:cs typeface="Century Gothic Paneuropean Bold"/>
                <a:sym typeface="Century Gothic Paneuropean Bold"/>
              </a:rPr>
              <a:t>METHODOLOGY</a:t>
            </a:r>
          </a:p>
        </p:txBody>
      </p:sp>
      <p:sp>
        <p:nvSpPr>
          <p:cNvPr id="13" name="TextBox 13"/>
          <p:cNvSpPr txBox="1"/>
          <p:nvPr/>
        </p:nvSpPr>
        <p:spPr>
          <a:xfrm>
            <a:off x="1285991" y="2787309"/>
            <a:ext cx="15716018" cy="7055484"/>
          </a:xfrm>
          <a:prstGeom prst="rect">
            <a:avLst/>
          </a:prstGeom>
        </p:spPr>
        <p:txBody>
          <a:bodyPr lIns="0" tIns="0" rIns="0" bIns="0" rtlCol="0" anchor="t">
            <a:spAutoFit/>
          </a:bodyPr>
          <a:lstStyle/>
          <a:p>
            <a:pPr marL="669301" lvl="1" indent="-334650" algn="l">
              <a:lnSpc>
                <a:spcPts val="4340"/>
              </a:lnSpc>
              <a:buFont typeface="Arial"/>
              <a:buChar char="•"/>
            </a:pPr>
            <a:r>
              <a:rPr lang="en-US" sz="3100" b="1" dirty="0">
                <a:solidFill>
                  <a:srgbClr val="2C4600"/>
                </a:solidFill>
                <a:latin typeface="Arimo"/>
                <a:ea typeface="Arimo"/>
                <a:cs typeface="Arimo"/>
                <a:sym typeface="Arimo"/>
              </a:rPr>
              <a:t>Research Approach: </a:t>
            </a:r>
          </a:p>
          <a:p>
            <a:pPr algn="l">
              <a:lnSpc>
                <a:spcPts val="4340"/>
              </a:lnSpc>
            </a:pPr>
            <a:r>
              <a:rPr lang="en-US" sz="3100" dirty="0">
                <a:solidFill>
                  <a:srgbClr val="2C4600"/>
                </a:solidFill>
                <a:latin typeface="Arimo"/>
                <a:ea typeface="Arimo"/>
                <a:cs typeface="Arimo"/>
                <a:sym typeface="Arimo"/>
              </a:rPr>
              <a:t>          Studied existing 3D map frameworks and user needs (multilingual, audio support).</a:t>
            </a:r>
          </a:p>
          <a:p>
            <a:pPr algn="l">
              <a:lnSpc>
                <a:spcPts val="4340"/>
              </a:lnSpc>
            </a:pPr>
            <a:r>
              <a:rPr lang="en-US" sz="3100" dirty="0">
                <a:solidFill>
                  <a:srgbClr val="2C4600"/>
                </a:solidFill>
                <a:latin typeface="Arimo"/>
                <a:ea typeface="Arimo"/>
                <a:cs typeface="Arimo"/>
                <a:sym typeface="Arimo"/>
              </a:rPr>
              <a:t>          Designed and built a prototype focused on Kolhapur city.</a:t>
            </a:r>
          </a:p>
          <a:p>
            <a:pPr algn="l">
              <a:lnSpc>
                <a:spcPts val="4340"/>
              </a:lnSpc>
            </a:pPr>
            <a:r>
              <a:rPr lang="en-US" sz="3100" dirty="0">
                <a:solidFill>
                  <a:srgbClr val="2C4600"/>
                </a:solidFill>
                <a:latin typeface="Arimo"/>
                <a:ea typeface="Arimo"/>
                <a:cs typeface="Arimo"/>
                <a:sym typeface="Arimo"/>
              </a:rPr>
              <a:t>          For More attraction made a blender animation earth with zoom effects.</a:t>
            </a:r>
          </a:p>
          <a:p>
            <a:pPr algn="l">
              <a:lnSpc>
                <a:spcPts val="4340"/>
              </a:lnSpc>
            </a:pPr>
            <a:endParaRPr lang="en-US" sz="3100" dirty="0">
              <a:solidFill>
                <a:srgbClr val="2C4600"/>
              </a:solidFill>
              <a:latin typeface="Arimo"/>
              <a:ea typeface="Arimo"/>
              <a:cs typeface="Arimo"/>
              <a:sym typeface="Arimo"/>
            </a:endParaRPr>
          </a:p>
          <a:p>
            <a:pPr marL="669301" lvl="1" indent="-334650" algn="l">
              <a:lnSpc>
                <a:spcPts val="4340"/>
              </a:lnSpc>
              <a:buFont typeface="Arial"/>
              <a:buChar char="•"/>
            </a:pPr>
            <a:r>
              <a:rPr lang="en-US" sz="3100" b="1" dirty="0">
                <a:solidFill>
                  <a:srgbClr val="2C4600"/>
                </a:solidFill>
                <a:latin typeface="Arimo"/>
                <a:ea typeface="Arimo"/>
                <a:cs typeface="Arimo"/>
                <a:sym typeface="Arimo"/>
              </a:rPr>
              <a:t>Tools and Technologies:</a:t>
            </a:r>
          </a:p>
          <a:p>
            <a:pPr algn="l">
              <a:lnSpc>
                <a:spcPts val="4340"/>
              </a:lnSpc>
            </a:pPr>
            <a:r>
              <a:rPr lang="en-US" sz="3100" dirty="0">
                <a:solidFill>
                  <a:srgbClr val="2C4600"/>
                </a:solidFill>
                <a:latin typeface="Arimo"/>
                <a:ea typeface="Arimo"/>
                <a:cs typeface="Arimo"/>
                <a:sym typeface="Arimo"/>
              </a:rPr>
              <a:t>         </a:t>
            </a:r>
            <a:r>
              <a:rPr lang="en-US" sz="3100" dirty="0" err="1">
                <a:solidFill>
                  <a:srgbClr val="2C4600"/>
                </a:solidFill>
                <a:latin typeface="Arimo"/>
                <a:ea typeface="Arimo"/>
                <a:cs typeface="Arimo"/>
                <a:sym typeface="Arimo"/>
              </a:rPr>
              <a:t>Mapbox</a:t>
            </a:r>
            <a:r>
              <a:rPr lang="en-US" sz="3100" dirty="0">
                <a:solidFill>
                  <a:srgbClr val="2C4600"/>
                </a:solidFill>
                <a:latin typeface="Arimo"/>
                <a:ea typeface="Arimo"/>
                <a:cs typeface="Arimo"/>
                <a:sym typeface="Arimo"/>
              </a:rPr>
              <a:t> GL JS – for 3D map rendering.</a:t>
            </a:r>
          </a:p>
          <a:p>
            <a:pPr algn="l">
              <a:lnSpc>
                <a:spcPts val="4340"/>
              </a:lnSpc>
            </a:pPr>
            <a:r>
              <a:rPr lang="en-US" sz="3100" dirty="0">
                <a:solidFill>
                  <a:srgbClr val="2C4600"/>
                </a:solidFill>
                <a:latin typeface="Arimo"/>
                <a:ea typeface="Arimo"/>
                <a:cs typeface="Arimo"/>
                <a:sym typeface="Arimo"/>
              </a:rPr>
              <a:t>         HTML, CSS, JavaScript (react)– for web development.</a:t>
            </a:r>
          </a:p>
          <a:p>
            <a:pPr algn="l">
              <a:lnSpc>
                <a:spcPts val="4340"/>
              </a:lnSpc>
            </a:pPr>
            <a:r>
              <a:rPr lang="en-US" sz="3100" dirty="0">
                <a:solidFill>
                  <a:srgbClr val="2C4600"/>
                </a:solidFill>
                <a:latin typeface="Arimo"/>
                <a:ea typeface="Arimo"/>
                <a:cs typeface="Arimo"/>
                <a:sym typeface="Arimo"/>
              </a:rPr>
              <a:t>         Audio libraries – to provide multilingual audio support.</a:t>
            </a:r>
          </a:p>
          <a:p>
            <a:pPr algn="l">
              <a:lnSpc>
                <a:spcPts val="4340"/>
              </a:lnSpc>
            </a:pPr>
            <a:r>
              <a:rPr lang="en-US" sz="3100" dirty="0">
                <a:solidFill>
                  <a:srgbClr val="2C4600"/>
                </a:solidFill>
                <a:latin typeface="Arimo"/>
                <a:ea typeface="Arimo"/>
                <a:cs typeface="Arimo"/>
                <a:sym typeface="Arimo"/>
              </a:rPr>
              <a:t>         Blender – For Earth animation and effects.</a:t>
            </a:r>
          </a:p>
          <a:p>
            <a:pPr algn="l">
              <a:lnSpc>
                <a:spcPts val="4340"/>
              </a:lnSpc>
            </a:pPr>
            <a:endParaRPr lang="en-US" sz="3100" dirty="0">
              <a:solidFill>
                <a:srgbClr val="2C4600"/>
              </a:solidFill>
              <a:latin typeface="Arimo"/>
              <a:ea typeface="Arimo"/>
              <a:cs typeface="Arimo"/>
              <a:sym typeface="Arimo"/>
            </a:endParaRPr>
          </a:p>
          <a:p>
            <a:pPr algn="l">
              <a:lnSpc>
                <a:spcPts val="4340"/>
              </a:lnSpc>
            </a:pPr>
            <a:endParaRPr lang="en-US" sz="3100" dirty="0">
              <a:solidFill>
                <a:srgbClr val="2C4600"/>
              </a:solidFill>
              <a:latin typeface="Arimo"/>
              <a:ea typeface="Arimo"/>
              <a:cs typeface="Arimo"/>
              <a:sym typeface="Arimo"/>
            </a:endParaRPr>
          </a:p>
          <a:p>
            <a:pPr algn="l">
              <a:lnSpc>
                <a:spcPts val="4340"/>
              </a:lnSpc>
            </a:pPr>
            <a:endParaRPr lang="en-US" sz="3100" dirty="0">
              <a:solidFill>
                <a:srgbClr val="2C4600"/>
              </a:solidFill>
              <a:latin typeface="Arimo"/>
              <a:ea typeface="Arimo"/>
              <a:cs typeface="Arimo"/>
              <a:sym typeface="Arimo"/>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4F0D8"/>
        </a:solidFill>
        <a:effectLst/>
      </p:bgPr>
    </p:bg>
    <p:spTree>
      <p:nvGrpSpPr>
        <p:cNvPr id="1" name=""/>
        <p:cNvGrpSpPr/>
        <p:nvPr/>
      </p:nvGrpSpPr>
      <p:grpSpPr>
        <a:xfrm>
          <a:off x="0" y="0"/>
          <a:ext cx="0" cy="0"/>
          <a:chOff x="0" y="0"/>
          <a:chExt cx="0" cy="0"/>
        </a:xfrm>
      </p:grpSpPr>
      <p:sp>
        <p:nvSpPr>
          <p:cNvPr id="2" name="Freeform 2"/>
          <p:cNvSpPr/>
          <p:nvPr/>
        </p:nvSpPr>
        <p:spPr>
          <a:xfrm flipV="1">
            <a:off x="284175" y="-433465"/>
            <a:ext cx="1489050" cy="2519931"/>
          </a:xfrm>
          <a:custGeom>
            <a:avLst/>
            <a:gdLst/>
            <a:ahLst/>
            <a:cxnLst/>
            <a:rect l="l" t="t" r="r" b="b"/>
            <a:pathLst>
              <a:path w="1489050" h="2519931">
                <a:moveTo>
                  <a:pt x="0" y="2519931"/>
                </a:moveTo>
                <a:lnTo>
                  <a:pt x="1489050" y="2519931"/>
                </a:lnTo>
                <a:lnTo>
                  <a:pt x="1489050" y="0"/>
                </a:lnTo>
                <a:lnTo>
                  <a:pt x="0" y="0"/>
                </a:lnTo>
                <a:lnTo>
                  <a:pt x="0" y="2519931"/>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9891071">
            <a:off x="13768657" y="-4710460"/>
            <a:ext cx="8328590" cy="6600408"/>
          </a:xfrm>
          <a:custGeom>
            <a:avLst/>
            <a:gdLst/>
            <a:ahLst/>
            <a:cxnLst/>
            <a:rect l="l" t="t" r="r" b="b"/>
            <a:pathLst>
              <a:path w="8328590" h="6600408">
                <a:moveTo>
                  <a:pt x="0" y="0"/>
                </a:moveTo>
                <a:lnTo>
                  <a:pt x="8328591" y="0"/>
                </a:lnTo>
                <a:lnTo>
                  <a:pt x="8328591" y="6600407"/>
                </a:lnTo>
                <a:lnTo>
                  <a:pt x="0" y="660040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9891071">
            <a:off x="10247754" y="-9577219"/>
            <a:ext cx="10608642" cy="11546822"/>
          </a:xfrm>
          <a:custGeom>
            <a:avLst/>
            <a:gdLst/>
            <a:ahLst/>
            <a:cxnLst/>
            <a:rect l="l" t="t" r="r" b="b"/>
            <a:pathLst>
              <a:path w="10608642" h="11546822">
                <a:moveTo>
                  <a:pt x="0" y="0"/>
                </a:moveTo>
                <a:lnTo>
                  <a:pt x="10608642" y="0"/>
                </a:lnTo>
                <a:lnTo>
                  <a:pt x="10608642" y="11546822"/>
                </a:lnTo>
                <a:lnTo>
                  <a:pt x="0" y="1154682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rot="9891071">
            <a:off x="15012761" y="-1456000"/>
            <a:ext cx="3463913" cy="4114800"/>
          </a:xfrm>
          <a:custGeom>
            <a:avLst/>
            <a:gdLst/>
            <a:ahLst/>
            <a:cxnLst/>
            <a:rect l="l" t="t" r="r" b="b"/>
            <a:pathLst>
              <a:path w="3463913" h="4114800">
                <a:moveTo>
                  <a:pt x="0" y="0"/>
                </a:moveTo>
                <a:lnTo>
                  <a:pt x="3463914" y="0"/>
                </a:lnTo>
                <a:lnTo>
                  <a:pt x="3463914"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rot="9891071">
            <a:off x="12354629" y="-2490865"/>
            <a:ext cx="2356658" cy="4114800"/>
          </a:xfrm>
          <a:custGeom>
            <a:avLst/>
            <a:gdLst/>
            <a:ahLst/>
            <a:cxnLst/>
            <a:rect l="l" t="t" r="r" b="b"/>
            <a:pathLst>
              <a:path w="2356658" h="4114800">
                <a:moveTo>
                  <a:pt x="0" y="0"/>
                </a:moveTo>
                <a:lnTo>
                  <a:pt x="2356658" y="0"/>
                </a:lnTo>
                <a:lnTo>
                  <a:pt x="235665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7" name="Freeform 7"/>
          <p:cNvSpPr/>
          <p:nvPr/>
        </p:nvSpPr>
        <p:spPr>
          <a:xfrm>
            <a:off x="-4164295" y="6986796"/>
            <a:ext cx="8328590" cy="6600408"/>
          </a:xfrm>
          <a:custGeom>
            <a:avLst/>
            <a:gdLst/>
            <a:ahLst/>
            <a:cxnLst/>
            <a:rect l="l" t="t" r="r" b="b"/>
            <a:pathLst>
              <a:path w="8328590" h="6600408">
                <a:moveTo>
                  <a:pt x="0" y="0"/>
                </a:moveTo>
                <a:lnTo>
                  <a:pt x="8328590" y="0"/>
                </a:lnTo>
                <a:lnTo>
                  <a:pt x="8328590" y="6600408"/>
                </a:lnTo>
                <a:lnTo>
                  <a:pt x="0" y="66004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a:off x="-3631678" y="7446153"/>
            <a:ext cx="10608642" cy="11546822"/>
          </a:xfrm>
          <a:custGeom>
            <a:avLst/>
            <a:gdLst/>
            <a:ahLst/>
            <a:cxnLst/>
            <a:rect l="l" t="t" r="r" b="b"/>
            <a:pathLst>
              <a:path w="10608642" h="11546822">
                <a:moveTo>
                  <a:pt x="0" y="0"/>
                </a:moveTo>
                <a:lnTo>
                  <a:pt x="10608643" y="0"/>
                </a:lnTo>
                <a:lnTo>
                  <a:pt x="10608643" y="11546822"/>
                </a:lnTo>
                <a:lnTo>
                  <a:pt x="0" y="1154682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p:cNvSpPr/>
          <p:nvPr/>
        </p:nvSpPr>
        <p:spPr>
          <a:xfrm rot="-849365">
            <a:off x="-209999" y="7200900"/>
            <a:ext cx="3463913" cy="4114800"/>
          </a:xfrm>
          <a:custGeom>
            <a:avLst/>
            <a:gdLst/>
            <a:ahLst/>
            <a:cxnLst/>
            <a:rect l="l" t="t" r="r" b="b"/>
            <a:pathLst>
              <a:path w="3463913" h="4114800">
                <a:moveTo>
                  <a:pt x="0" y="0"/>
                </a:moveTo>
                <a:lnTo>
                  <a:pt x="3463914" y="0"/>
                </a:lnTo>
                <a:lnTo>
                  <a:pt x="3463914"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0" name="Freeform 10"/>
          <p:cNvSpPr/>
          <p:nvPr/>
        </p:nvSpPr>
        <p:spPr>
          <a:xfrm>
            <a:off x="3704487" y="8229600"/>
            <a:ext cx="2356658" cy="4114800"/>
          </a:xfrm>
          <a:custGeom>
            <a:avLst/>
            <a:gdLst/>
            <a:ahLst/>
            <a:cxnLst/>
            <a:rect l="l" t="t" r="r" b="b"/>
            <a:pathLst>
              <a:path w="2356658" h="4114800">
                <a:moveTo>
                  <a:pt x="0" y="0"/>
                </a:moveTo>
                <a:lnTo>
                  <a:pt x="2356659" y="0"/>
                </a:lnTo>
                <a:lnTo>
                  <a:pt x="2356659"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1" name="Freeform 11"/>
          <p:cNvSpPr/>
          <p:nvPr/>
        </p:nvSpPr>
        <p:spPr>
          <a:xfrm>
            <a:off x="16514775" y="8229600"/>
            <a:ext cx="1489050" cy="2519931"/>
          </a:xfrm>
          <a:custGeom>
            <a:avLst/>
            <a:gdLst/>
            <a:ahLst/>
            <a:cxnLst/>
            <a:rect l="l" t="t" r="r" b="b"/>
            <a:pathLst>
              <a:path w="1489050" h="2519931">
                <a:moveTo>
                  <a:pt x="0" y="0"/>
                </a:moveTo>
                <a:lnTo>
                  <a:pt x="1489050" y="0"/>
                </a:lnTo>
                <a:lnTo>
                  <a:pt x="1489050" y="2519931"/>
                </a:lnTo>
                <a:lnTo>
                  <a:pt x="0" y="251993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Freeform 12"/>
          <p:cNvSpPr/>
          <p:nvPr/>
        </p:nvSpPr>
        <p:spPr>
          <a:xfrm>
            <a:off x="6976964" y="2428875"/>
            <a:ext cx="9537810" cy="7134225"/>
          </a:xfrm>
          <a:custGeom>
            <a:avLst/>
            <a:gdLst/>
            <a:ahLst/>
            <a:cxnLst/>
            <a:rect l="l" t="t" r="r" b="b"/>
            <a:pathLst>
              <a:path w="7960894" h="5970671">
                <a:moveTo>
                  <a:pt x="0" y="0"/>
                </a:moveTo>
                <a:lnTo>
                  <a:pt x="7960895" y="0"/>
                </a:lnTo>
                <a:lnTo>
                  <a:pt x="7960895" y="5970671"/>
                </a:lnTo>
                <a:lnTo>
                  <a:pt x="0" y="5970671"/>
                </a:lnTo>
                <a:lnTo>
                  <a:pt x="0" y="0"/>
                </a:lnTo>
                <a:close/>
              </a:path>
            </a:pathLst>
          </a:custGeom>
          <a:blipFill>
            <a:blip r:embed="rId12"/>
            <a:stretch>
              <a:fillRect/>
            </a:stretch>
          </a:blipFill>
        </p:spPr>
      </p:sp>
      <p:sp>
        <p:nvSpPr>
          <p:cNvPr id="13" name="TextBox 13"/>
          <p:cNvSpPr txBox="1"/>
          <p:nvPr/>
        </p:nvSpPr>
        <p:spPr>
          <a:xfrm>
            <a:off x="729282" y="2698684"/>
            <a:ext cx="5900118" cy="551433"/>
          </a:xfrm>
          <a:prstGeom prst="rect">
            <a:avLst/>
          </a:prstGeom>
        </p:spPr>
        <p:txBody>
          <a:bodyPr wrap="square" lIns="0" tIns="0" rIns="0" bIns="0" rtlCol="0" anchor="t">
            <a:spAutoFit/>
          </a:bodyPr>
          <a:lstStyle/>
          <a:p>
            <a:pPr marL="669301" lvl="1" indent="-334650" algn="l">
              <a:lnSpc>
                <a:spcPts val="4340"/>
              </a:lnSpc>
              <a:buFont typeface="Arial"/>
              <a:buChar char="•"/>
            </a:pPr>
            <a:r>
              <a:rPr lang="en-US" sz="3600" b="1" dirty="0">
                <a:solidFill>
                  <a:srgbClr val="2C4600"/>
                </a:solidFill>
                <a:latin typeface="Arimo"/>
                <a:ea typeface="Arimo"/>
                <a:cs typeface="Arimo"/>
                <a:sym typeface="Arimo"/>
              </a:rPr>
              <a:t>System Architecture:</a:t>
            </a:r>
          </a:p>
        </p:txBody>
      </p:sp>
      <p:sp>
        <p:nvSpPr>
          <p:cNvPr id="14" name="TextBox 14"/>
          <p:cNvSpPr txBox="1"/>
          <p:nvPr/>
        </p:nvSpPr>
        <p:spPr>
          <a:xfrm>
            <a:off x="729282" y="3633513"/>
            <a:ext cx="5987870" cy="2709781"/>
          </a:xfrm>
          <a:prstGeom prst="rect">
            <a:avLst/>
          </a:prstGeom>
        </p:spPr>
        <p:txBody>
          <a:bodyPr lIns="0" tIns="0" rIns="0" bIns="0" rtlCol="0" anchor="t">
            <a:spAutoFit/>
          </a:bodyPr>
          <a:lstStyle/>
          <a:p>
            <a:pPr marL="669301" lvl="1" indent="-334650" algn="l">
              <a:lnSpc>
                <a:spcPts val="4340"/>
              </a:lnSpc>
              <a:buFont typeface="Arial"/>
              <a:buChar char="•"/>
            </a:pPr>
            <a:r>
              <a:rPr lang="en-US" sz="3100" dirty="0">
                <a:solidFill>
                  <a:srgbClr val="2C4600"/>
                </a:solidFill>
                <a:latin typeface="Arimo"/>
                <a:ea typeface="Arimo"/>
                <a:cs typeface="Arimo"/>
                <a:sym typeface="Arimo"/>
              </a:rPr>
              <a:t>It defines the how the user can use the website properly.</a:t>
            </a:r>
          </a:p>
          <a:p>
            <a:pPr marL="669301" lvl="1" indent="-334650" algn="l">
              <a:lnSpc>
                <a:spcPts val="4340"/>
              </a:lnSpc>
              <a:buFont typeface="Arial"/>
              <a:buChar char="•"/>
            </a:pPr>
            <a:endParaRPr lang="en-US" sz="3100" dirty="0">
              <a:solidFill>
                <a:srgbClr val="2C4600"/>
              </a:solidFill>
              <a:latin typeface="Arimo"/>
              <a:ea typeface="Arimo"/>
              <a:cs typeface="Arimo"/>
              <a:sym typeface="Arimo"/>
            </a:endParaRPr>
          </a:p>
          <a:p>
            <a:pPr marL="669301" lvl="1" indent="-334650" algn="l">
              <a:lnSpc>
                <a:spcPts val="4340"/>
              </a:lnSpc>
              <a:buFont typeface="Arial"/>
              <a:buChar char="•"/>
            </a:pPr>
            <a:r>
              <a:rPr lang="en-US" sz="3100" dirty="0">
                <a:solidFill>
                  <a:srgbClr val="2C4600"/>
                </a:solidFill>
                <a:latin typeface="Arimo"/>
                <a:ea typeface="Arimo"/>
                <a:cs typeface="Arimo"/>
                <a:sym typeface="Arimo"/>
              </a:rPr>
              <a:t>Which includes user interaction flow ,data flow.</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4F0D8"/>
        </a:solidFill>
        <a:effectLst/>
      </p:bgPr>
    </p:bg>
    <p:spTree>
      <p:nvGrpSpPr>
        <p:cNvPr id="1" name=""/>
        <p:cNvGrpSpPr/>
        <p:nvPr/>
      </p:nvGrpSpPr>
      <p:grpSpPr>
        <a:xfrm>
          <a:off x="0" y="0"/>
          <a:ext cx="0" cy="0"/>
          <a:chOff x="0" y="0"/>
          <a:chExt cx="0" cy="0"/>
        </a:xfrm>
      </p:grpSpPr>
      <p:sp>
        <p:nvSpPr>
          <p:cNvPr id="2" name="Freeform 2"/>
          <p:cNvSpPr/>
          <p:nvPr/>
        </p:nvSpPr>
        <p:spPr>
          <a:xfrm>
            <a:off x="-4164295" y="6986796"/>
            <a:ext cx="8328590" cy="6600408"/>
          </a:xfrm>
          <a:custGeom>
            <a:avLst/>
            <a:gdLst/>
            <a:ahLst/>
            <a:cxnLst/>
            <a:rect l="l" t="t" r="r" b="b"/>
            <a:pathLst>
              <a:path w="8328590" h="6600408">
                <a:moveTo>
                  <a:pt x="0" y="0"/>
                </a:moveTo>
                <a:lnTo>
                  <a:pt x="8328590" y="0"/>
                </a:lnTo>
                <a:lnTo>
                  <a:pt x="8328590" y="6600408"/>
                </a:lnTo>
                <a:lnTo>
                  <a:pt x="0" y="66004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3631678" y="7446153"/>
            <a:ext cx="10608642" cy="11546822"/>
          </a:xfrm>
          <a:custGeom>
            <a:avLst/>
            <a:gdLst/>
            <a:ahLst/>
            <a:cxnLst/>
            <a:rect l="l" t="t" r="r" b="b"/>
            <a:pathLst>
              <a:path w="10608642" h="11546822">
                <a:moveTo>
                  <a:pt x="0" y="0"/>
                </a:moveTo>
                <a:lnTo>
                  <a:pt x="10608643" y="0"/>
                </a:lnTo>
                <a:lnTo>
                  <a:pt x="10608643" y="11546822"/>
                </a:lnTo>
                <a:lnTo>
                  <a:pt x="0" y="1154682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849365">
            <a:off x="-209999" y="7200900"/>
            <a:ext cx="3463913" cy="4114800"/>
          </a:xfrm>
          <a:custGeom>
            <a:avLst/>
            <a:gdLst/>
            <a:ahLst/>
            <a:cxnLst/>
            <a:rect l="l" t="t" r="r" b="b"/>
            <a:pathLst>
              <a:path w="3463913" h="4114800">
                <a:moveTo>
                  <a:pt x="0" y="0"/>
                </a:moveTo>
                <a:lnTo>
                  <a:pt x="3463914" y="0"/>
                </a:lnTo>
                <a:lnTo>
                  <a:pt x="3463914"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3704487" y="8229600"/>
            <a:ext cx="2356658" cy="4114800"/>
          </a:xfrm>
          <a:custGeom>
            <a:avLst/>
            <a:gdLst/>
            <a:ahLst/>
            <a:cxnLst/>
            <a:rect l="l" t="t" r="r" b="b"/>
            <a:pathLst>
              <a:path w="2356658" h="4114800">
                <a:moveTo>
                  <a:pt x="0" y="0"/>
                </a:moveTo>
                <a:lnTo>
                  <a:pt x="2356659" y="0"/>
                </a:lnTo>
                <a:lnTo>
                  <a:pt x="2356659"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rot="9891071">
            <a:off x="13768657" y="-4710460"/>
            <a:ext cx="8328590" cy="6600408"/>
          </a:xfrm>
          <a:custGeom>
            <a:avLst/>
            <a:gdLst/>
            <a:ahLst/>
            <a:cxnLst/>
            <a:rect l="l" t="t" r="r" b="b"/>
            <a:pathLst>
              <a:path w="8328590" h="6600408">
                <a:moveTo>
                  <a:pt x="0" y="0"/>
                </a:moveTo>
                <a:lnTo>
                  <a:pt x="8328591" y="0"/>
                </a:lnTo>
                <a:lnTo>
                  <a:pt x="8328591" y="6600407"/>
                </a:lnTo>
                <a:lnTo>
                  <a:pt x="0" y="66004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p:cNvSpPr/>
          <p:nvPr/>
        </p:nvSpPr>
        <p:spPr>
          <a:xfrm rot="9891071">
            <a:off x="10247754" y="-9577219"/>
            <a:ext cx="10608642" cy="11546822"/>
          </a:xfrm>
          <a:custGeom>
            <a:avLst/>
            <a:gdLst/>
            <a:ahLst/>
            <a:cxnLst/>
            <a:rect l="l" t="t" r="r" b="b"/>
            <a:pathLst>
              <a:path w="10608642" h="11546822">
                <a:moveTo>
                  <a:pt x="0" y="0"/>
                </a:moveTo>
                <a:lnTo>
                  <a:pt x="10608642" y="0"/>
                </a:lnTo>
                <a:lnTo>
                  <a:pt x="10608642" y="11546822"/>
                </a:lnTo>
                <a:lnTo>
                  <a:pt x="0" y="1154682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rot="9891071">
            <a:off x="15012761" y="-1456000"/>
            <a:ext cx="3463913" cy="4114800"/>
          </a:xfrm>
          <a:custGeom>
            <a:avLst/>
            <a:gdLst/>
            <a:ahLst/>
            <a:cxnLst/>
            <a:rect l="l" t="t" r="r" b="b"/>
            <a:pathLst>
              <a:path w="3463913" h="4114800">
                <a:moveTo>
                  <a:pt x="0" y="0"/>
                </a:moveTo>
                <a:lnTo>
                  <a:pt x="3463914" y="0"/>
                </a:lnTo>
                <a:lnTo>
                  <a:pt x="3463914"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p:cNvSpPr/>
          <p:nvPr/>
        </p:nvSpPr>
        <p:spPr>
          <a:xfrm rot="9891071">
            <a:off x="12499207" y="-2490865"/>
            <a:ext cx="2356658" cy="4114800"/>
          </a:xfrm>
          <a:custGeom>
            <a:avLst/>
            <a:gdLst/>
            <a:ahLst/>
            <a:cxnLst/>
            <a:rect l="l" t="t" r="r" b="b"/>
            <a:pathLst>
              <a:path w="2356658" h="4114800">
                <a:moveTo>
                  <a:pt x="0" y="0"/>
                </a:moveTo>
                <a:lnTo>
                  <a:pt x="2356658" y="0"/>
                </a:lnTo>
                <a:lnTo>
                  <a:pt x="2356658"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0" name="Freeform 10"/>
          <p:cNvSpPr/>
          <p:nvPr/>
        </p:nvSpPr>
        <p:spPr>
          <a:xfrm>
            <a:off x="16514775" y="8229600"/>
            <a:ext cx="1489050" cy="2519931"/>
          </a:xfrm>
          <a:custGeom>
            <a:avLst/>
            <a:gdLst/>
            <a:ahLst/>
            <a:cxnLst/>
            <a:rect l="l" t="t" r="r" b="b"/>
            <a:pathLst>
              <a:path w="1489050" h="2519931">
                <a:moveTo>
                  <a:pt x="0" y="0"/>
                </a:moveTo>
                <a:lnTo>
                  <a:pt x="1489050" y="0"/>
                </a:lnTo>
                <a:lnTo>
                  <a:pt x="1489050" y="2519931"/>
                </a:lnTo>
                <a:lnTo>
                  <a:pt x="0" y="2519931"/>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1" name="Freeform 11"/>
          <p:cNvSpPr/>
          <p:nvPr/>
        </p:nvSpPr>
        <p:spPr>
          <a:xfrm flipV="1">
            <a:off x="284175" y="-433465"/>
            <a:ext cx="1489050" cy="2519931"/>
          </a:xfrm>
          <a:custGeom>
            <a:avLst/>
            <a:gdLst/>
            <a:ahLst/>
            <a:cxnLst/>
            <a:rect l="l" t="t" r="r" b="b"/>
            <a:pathLst>
              <a:path w="1489050" h="2519931">
                <a:moveTo>
                  <a:pt x="0" y="2519931"/>
                </a:moveTo>
                <a:lnTo>
                  <a:pt x="1489050" y="2519931"/>
                </a:lnTo>
                <a:lnTo>
                  <a:pt x="1489050" y="0"/>
                </a:lnTo>
                <a:lnTo>
                  <a:pt x="0" y="0"/>
                </a:lnTo>
                <a:lnTo>
                  <a:pt x="0" y="2519931"/>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2" name="TextBox 12"/>
          <p:cNvSpPr txBox="1"/>
          <p:nvPr/>
        </p:nvSpPr>
        <p:spPr>
          <a:xfrm>
            <a:off x="762000" y="1627410"/>
            <a:ext cx="13433056" cy="1133525"/>
          </a:xfrm>
          <a:prstGeom prst="rect">
            <a:avLst/>
          </a:prstGeom>
        </p:spPr>
        <p:txBody>
          <a:bodyPr lIns="0" tIns="0" rIns="0" bIns="0" rtlCol="0" anchor="t">
            <a:spAutoFit/>
          </a:bodyPr>
          <a:lstStyle/>
          <a:p>
            <a:pPr algn="ctr">
              <a:lnSpc>
                <a:spcPts val="8231"/>
              </a:lnSpc>
            </a:pPr>
            <a:r>
              <a:rPr lang="en-US" sz="9461" b="1" dirty="0">
                <a:solidFill>
                  <a:srgbClr val="2C4600"/>
                </a:solidFill>
                <a:latin typeface="Century Gothic Paneuropean Bold"/>
                <a:ea typeface="Century Gothic Paneuropean Bold"/>
                <a:cs typeface="Century Gothic Paneuropean Bold"/>
                <a:sym typeface="Century Gothic Paneuropean Bold"/>
              </a:rPr>
              <a:t>RESULT AND ANALYSIS</a:t>
            </a:r>
          </a:p>
        </p:txBody>
      </p:sp>
      <p:sp>
        <p:nvSpPr>
          <p:cNvPr id="15" name="TextBox 14">
            <a:extLst>
              <a:ext uri="{FF2B5EF4-FFF2-40B4-BE49-F238E27FC236}">
                <a16:creationId xmlns:a16="http://schemas.microsoft.com/office/drawing/2014/main" id="{2E75361F-CB6C-03F4-73BA-9D51621C97A8}"/>
              </a:ext>
            </a:extLst>
          </p:cNvPr>
          <p:cNvSpPr txBox="1"/>
          <p:nvPr/>
        </p:nvSpPr>
        <p:spPr>
          <a:xfrm>
            <a:off x="1028700" y="2922608"/>
            <a:ext cx="16832926" cy="5632311"/>
          </a:xfrm>
          <a:prstGeom prst="rect">
            <a:avLst/>
          </a:prstGeom>
          <a:noFill/>
        </p:spPr>
        <p:txBody>
          <a:bodyPr wrap="square" rtlCol="0">
            <a:spAutoFit/>
          </a:bodyPr>
          <a:lstStyle/>
          <a:p>
            <a:pPr marL="342900" indent="-342900">
              <a:buFont typeface="+mj-lt"/>
              <a:buAutoNum type="arabicPeriod"/>
            </a:pPr>
            <a:r>
              <a:rPr lang="en-US" sz="3600" dirty="0">
                <a:solidFill>
                  <a:srgbClr val="2C4600"/>
                </a:solidFill>
                <a:latin typeface="Arimo" panose="020B0604020202020204" charset="0"/>
                <a:ea typeface="Arimo" panose="020B0604020202020204" charset="0"/>
                <a:cs typeface="Arimo" panose="020B0604020202020204" charset="0"/>
              </a:rPr>
              <a:t>After completion of this project user can locates the locations easily and quickly.</a:t>
            </a:r>
          </a:p>
          <a:p>
            <a:pPr marL="342900" indent="-342900">
              <a:buFont typeface="+mj-lt"/>
              <a:buAutoNum type="arabicPeriod"/>
            </a:pPr>
            <a:endParaRPr lang="en-US" sz="3600" dirty="0">
              <a:solidFill>
                <a:srgbClr val="2C4600"/>
              </a:solidFill>
              <a:latin typeface="Arimo" panose="020B0604020202020204" charset="0"/>
              <a:ea typeface="Arimo" panose="020B0604020202020204" charset="0"/>
              <a:cs typeface="Arimo" panose="020B0604020202020204" charset="0"/>
            </a:endParaRPr>
          </a:p>
          <a:p>
            <a:pPr marL="342900" indent="-342900">
              <a:buFont typeface="+mj-lt"/>
              <a:buAutoNum type="arabicPeriod"/>
            </a:pPr>
            <a:r>
              <a:rPr lang="en-IN" sz="3600" dirty="0">
                <a:solidFill>
                  <a:srgbClr val="2C4600"/>
                </a:solidFill>
                <a:latin typeface="Arimo" panose="020B0604020202020204" charset="0"/>
                <a:ea typeface="Arimo" panose="020B0604020202020204" charset="0"/>
                <a:cs typeface="Arimo" panose="020B0604020202020204" charset="0"/>
              </a:rPr>
              <a:t>Compare to traditional 2D Map, the 3D view provides in depth perception and realism of </a:t>
            </a:r>
            <a:r>
              <a:rPr lang="en-US" sz="3600" dirty="0">
                <a:solidFill>
                  <a:srgbClr val="2C4600"/>
                </a:solidFill>
                <a:latin typeface="Arimo" panose="020B0604020202020204" charset="0"/>
                <a:ea typeface="Arimo" panose="020B0604020202020204" charset="0"/>
                <a:cs typeface="Arimo" panose="020B0604020202020204" charset="0"/>
              </a:rPr>
              <a:t>locations.</a:t>
            </a:r>
            <a:endParaRPr lang="en-IN" sz="3600" dirty="0">
              <a:solidFill>
                <a:srgbClr val="2C4600"/>
              </a:solidFill>
              <a:latin typeface="Arimo" panose="020B0604020202020204" charset="0"/>
              <a:ea typeface="Arimo" panose="020B0604020202020204" charset="0"/>
              <a:cs typeface="Arimo" panose="020B0604020202020204" charset="0"/>
            </a:endParaRPr>
          </a:p>
          <a:p>
            <a:pPr marL="342900" indent="-342900">
              <a:buFont typeface="+mj-lt"/>
              <a:buAutoNum type="arabicPeriod"/>
            </a:pPr>
            <a:endParaRPr lang="en-IN" sz="3600" dirty="0">
              <a:solidFill>
                <a:srgbClr val="2C4600"/>
              </a:solidFill>
              <a:latin typeface="Arimo" panose="020B0604020202020204" charset="0"/>
              <a:ea typeface="Arimo" panose="020B0604020202020204" charset="0"/>
              <a:cs typeface="Arimo" panose="020B0604020202020204" charset="0"/>
            </a:endParaRPr>
          </a:p>
          <a:p>
            <a:pPr marL="342900" indent="-342900">
              <a:buFont typeface="+mj-lt"/>
              <a:buAutoNum type="arabicPeriod"/>
            </a:pPr>
            <a:r>
              <a:rPr lang="en-IN" sz="3600" dirty="0">
                <a:solidFill>
                  <a:srgbClr val="2C4600"/>
                </a:solidFill>
                <a:latin typeface="Arimo" panose="020B0604020202020204" charset="0"/>
                <a:ea typeface="Arimo" panose="020B0604020202020204" charset="0"/>
                <a:cs typeface="Arimo" panose="020B0604020202020204" charset="0"/>
              </a:rPr>
              <a:t>Smooth Transitions and Animations makes the map more engaging.</a:t>
            </a:r>
          </a:p>
          <a:p>
            <a:pPr marL="342900" indent="-342900">
              <a:buFont typeface="+mj-lt"/>
              <a:buAutoNum type="arabicPeriod"/>
            </a:pPr>
            <a:endParaRPr lang="en-IN" sz="3600" dirty="0">
              <a:solidFill>
                <a:srgbClr val="2C4600"/>
              </a:solidFill>
              <a:latin typeface="Arimo" panose="020B0604020202020204" charset="0"/>
              <a:ea typeface="Arimo" panose="020B0604020202020204" charset="0"/>
              <a:cs typeface="Arimo" panose="020B0604020202020204" charset="0"/>
            </a:endParaRPr>
          </a:p>
          <a:p>
            <a:pPr marL="342900" indent="-342900">
              <a:buFont typeface="+mj-lt"/>
              <a:buAutoNum type="arabicPeriod"/>
            </a:pPr>
            <a:r>
              <a:rPr lang="en-US" sz="3600" dirty="0">
                <a:solidFill>
                  <a:srgbClr val="2C4600"/>
                </a:solidFill>
                <a:latin typeface="Arimo" panose="020B0604020202020204" charset="0"/>
                <a:ea typeface="Arimo" panose="020B0604020202020204" charset="0"/>
                <a:cs typeface="Arimo" panose="020B0604020202020204" charset="0"/>
              </a:rPr>
              <a:t>Due to background audio content and switching of languages gets user attractions. </a:t>
            </a:r>
            <a:endParaRPr lang="en-IN" sz="3600" dirty="0">
              <a:solidFill>
                <a:srgbClr val="2C4600"/>
              </a:solidFill>
              <a:latin typeface="Arimo" panose="020B0604020202020204" charset="0"/>
              <a:ea typeface="Arimo" panose="020B0604020202020204" charset="0"/>
              <a:cs typeface="Arimo" panose="020B0604020202020204" charset="0"/>
            </a:endParaRPr>
          </a:p>
          <a:p>
            <a:pPr marL="342900" indent="-342900">
              <a:buFont typeface="+mj-lt"/>
              <a:buAutoNum type="arabicPeriod"/>
            </a:pPr>
            <a:endParaRPr lang="en-US" sz="3600" dirty="0">
              <a:solidFill>
                <a:srgbClr val="2C4600"/>
              </a:solidFill>
              <a:latin typeface="Arimo" panose="020B0604020202020204" charset="0"/>
              <a:ea typeface="Arimo" panose="020B0604020202020204" charset="0"/>
              <a:cs typeface="Arimo" panose="020B0604020202020204"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4F0D8"/>
        </a:solidFill>
        <a:effectLst/>
      </p:bgPr>
    </p:bg>
    <p:spTree>
      <p:nvGrpSpPr>
        <p:cNvPr id="1" name=""/>
        <p:cNvGrpSpPr/>
        <p:nvPr/>
      </p:nvGrpSpPr>
      <p:grpSpPr>
        <a:xfrm>
          <a:off x="0" y="0"/>
          <a:ext cx="0" cy="0"/>
          <a:chOff x="0" y="0"/>
          <a:chExt cx="0" cy="0"/>
        </a:xfrm>
      </p:grpSpPr>
      <p:sp>
        <p:nvSpPr>
          <p:cNvPr id="2" name="Freeform 2"/>
          <p:cNvSpPr/>
          <p:nvPr/>
        </p:nvSpPr>
        <p:spPr>
          <a:xfrm>
            <a:off x="-4164295" y="6986796"/>
            <a:ext cx="8328590" cy="6600408"/>
          </a:xfrm>
          <a:custGeom>
            <a:avLst/>
            <a:gdLst/>
            <a:ahLst/>
            <a:cxnLst/>
            <a:rect l="l" t="t" r="r" b="b"/>
            <a:pathLst>
              <a:path w="8328590" h="6600408">
                <a:moveTo>
                  <a:pt x="0" y="0"/>
                </a:moveTo>
                <a:lnTo>
                  <a:pt x="8328590" y="0"/>
                </a:lnTo>
                <a:lnTo>
                  <a:pt x="8328590" y="6600408"/>
                </a:lnTo>
                <a:lnTo>
                  <a:pt x="0" y="66004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3631678" y="7446153"/>
            <a:ext cx="10608642" cy="11546822"/>
          </a:xfrm>
          <a:custGeom>
            <a:avLst/>
            <a:gdLst/>
            <a:ahLst/>
            <a:cxnLst/>
            <a:rect l="l" t="t" r="r" b="b"/>
            <a:pathLst>
              <a:path w="10608642" h="11546822">
                <a:moveTo>
                  <a:pt x="0" y="0"/>
                </a:moveTo>
                <a:lnTo>
                  <a:pt x="10608643" y="0"/>
                </a:lnTo>
                <a:lnTo>
                  <a:pt x="10608643" y="11546822"/>
                </a:lnTo>
                <a:lnTo>
                  <a:pt x="0" y="1154682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849365">
            <a:off x="-209999" y="7200900"/>
            <a:ext cx="3463913" cy="4114800"/>
          </a:xfrm>
          <a:custGeom>
            <a:avLst/>
            <a:gdLst/>
            <a:ahLst/>
            <a:cxnLst/>
            <a:rect l="l" t="t" r="r" b="b"/>
            <a:pathLst>
              <a:path w="3463913" h="4114800">
                <a:moveTo>
                  <a:pt x="0" y="0"/>
                </a:moveTo>
                <a:lnTo>
                  <a:pt x="3463914" y="0"/>
                </a:lnTo>
                <a:lnTo>
                  <a:pt x="3463914"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3704487" y="8229600"/>
            <a:ext cx="2356658" cy="4114800"/>
          </a:xfrm>
          <a:custGeom>
            <a:avLst/>
            <a:gdLst/>
            <a:ahLst/>
            <a:cxnLst/>
            <a:rect l="l" t="t" r="r" b="b"/>
            <a:pathLst>
              <a:path w="2356658" h="4114800">
                <a:moveTo>
                  <a:pt x="0" y="0"/>
                </a:moveTo>
                <a:lnTo>
                  <a:pt x="2356659" y="0"/>
                </a:lnTo>
                <a:lnTo>
                  <a:pt x="2356659"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rot="9891071">
            <a:off x="13768657" y="-4710460"/>
            <a:ext cx="8328590" cy="6600408"/>
          </a:xfrm>
          <a:custGeom>
            <a:avLst/>
            <a:gdLst/>
            <a:ahLst/>
            <a:cxnLst/>
            <a:rect l="l" t="t" r="r" b="b"/>
            <a:pathLst>
              <a:path w="8328590" h="6600408">
                <a:moveTo>
                  <a:pt x="0" y="0"/>
                </a:moveTo>
                <a:lnTo>
                  <a:pt x="8328591" y="0"/>
                </a:lnTo>
                <a:lnTo>
                  <a:pt x="8328591" y="6600407"/>
                </a:lnTo>
                <a:lnTo>
                  <a:pt x="0" y="66004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p:cNvSpPr/>
          <p:nvPr/>
        </p:nvSpPr>
        <p:spPr>
          <a:xfrm rot="9891071">
            <a:off x="10247754" y="-9577219"/>
            <a:ext cx="10608642" cy="11546822"/>
          </a:xfrm>
          <a:custGeom>
            <a:avLst/>
            <a:gdLst/>
            <a:ahLst/>
            <a:cxnLst/>
            <a:rect l="l" t="t" r="r" b="b"/>
            <a:pathLst>
              <a:path w="10608642" h="11546822">
                <a:moveTo>
                  <a:pt x="0" y="0"/>
                </a:moveTo>
                <a:lnTo>
                  <a:pt x="10608642" y="0"/>
                </a:lnTo>
                <a:lnTo>
                  <a:pt x="10608642" y="11546822"/>
                </a:lnTo>
                <a:lnTo>
                  <a:pt x="0" y="1154682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rot="9891071">
            <a:off x="15012761" y="-1456000"/>
            <a:ext cx="3463913" cy="4114800"/>
          </a:xfrm>
          <a:custGeom>
            <a:avLst/>
            <a:gdLst/>
            <a:ahLst/>
            <a:cxnLst/>
            <a:rect l="l" t="t" r="r" b="b"/>
            <a:pathLst>
              <a:path w="3463913" h="4114800">
                <a:moveTo>
                  <a:pt x="0" y="0"/>
                </a:moveTo>
                <a:lnTo>
                  <a:pt x="3463914" y="0"/>
                </a:lnTo>
                <a:lnTo>
                  <a:pt x="3463914"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p:cNvSpPr/>
          <p:nvPr/>
        </p:nvSpPr>
        <p:spPr>
          <a:xfrm rot="9891071">
            <a:off x="12402248" y="-2057400"/>
            <a:ext cx="2356658" cy="4114800"/>
          </a:xfrm>
          <a:custGeom>
            <a:avLst/>
            <a:gdLst/>
            <a:ahLst/>
            <a:cxnLst/>
            <a:rect l="l" t="t" r="r" b="b"/>
            <a:pathLst>
              <a:path w="2356658" h="4114800">
                <a:moveTo>
                  <a:pt x="0" y="0"/>
                </a:moveTo>
                <a:lnTo>
                  <a:pt x="2356658" y="0"/>
                </a:lnTo>
                <a:lnTo>
                  <a:pt x="2356658"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0" name="Freeform 10"/>
          <p:cNvSpPr/>
          <p:nvPr/>
        </p:nvSpPr>
        <p:spPr>
          <a:xfrm>
            <a:off x="16514775" y="8229600"/>
            <a:ext cx="1489050" cy="2519931"/>
          </a:xfrm>
          <a:custGeom>
            <a:avLst/>
            <a:gdLst/>
            <a:ahLst/>
            <a:cxnLst/>
            <a:rect l="l" t="t" r="r" b="b"/>
            <a:pathLst>
              <a:path w="1489050" h="2519931">
                <a:moveTo>
                  <a:pt x="0" y="0"/>
                </a:moveTo>
                <a:lnTo>
                  <a:pt x="1489050" y="0"/>
                </a:lnTo>
                <a:lnTo>
                  <a:pt x="1489050" y="2519931"/>
                </a:lnTo>
                <a:lnTo>
                  <a:pt x="0" y="2519931"/>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1" name="Freeform 11"/>
          <p:cNvSpPr/>
          <p:nvPr/>
        </p:nvSpPr>
        <p:spPr>
          <a:xfrm flipV="1">
            <a:off x="284175" y="-433465"/>
            <a:ext cx="1489050" cy="2519931"/>
          </a:xfrm>
          <a:custGeom>
            <a:avLst/>
            <a:gdLst/>
            <a:ahLst/>
            <a:cxnLst/>
            <a:rect l="l" t="t" r="r" b="b"/>
            <a:pathLst>
              <a:path w="1489050" h="2519931">
                <a:moveTo>
                  <a:pt x="0" y="2519931"/>
                </a:moveTo>
                <a:lnTo>
                  <a:pt x="1489050" y="2519931"/>
                </a:lnTo>
                <a:lnTo>
                  <a:pt x="1489050" y="0"/>
                </a:lnTo>
                <a:lnTo>
                  <a:pt x="0" y="0"/>
                </a:lnTo>
                <a:lnTo>
                  <a:pt x="0" y="2519931"/>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2" name="TextBox 12"/>
          <p:cNvSpPr txBox="1"/>
          <p:nvPr/>
        </p:nvSpPr>
        <p:spPr>
          <a:xfrm>
            <a:off x="2133600" y="1030876"/>
            <a:ext cx="9870185" cy="1101455"/>
          </a:xfrm>
          <a:prstGeom prst="rect">
            <a:avLst/>
          </a:prstGeom>
        </p:spPr>
        <p:txBody>
          <a:bodyPr wrap="square" lIns="0" tIns="0" rIns="0" bIns="0" rtlCol="0" anchor="t">
            <a:spAutoFit/>
          </a:bodyPr>
          <a:lstStyle/>
          <a:p>
            <a:pPr algn="ctr">
              <a:lnSpc>
                <a:spcPts val="8231"/>
              </a:lnSpc>
            </a:pPr>
            <a:r>
              <a:rPr lang="en-US" sz="9461" b="1" dirty="0">
                <a:solidFill>
                  <a:srgbClr val="2C4600"/>
                </a:solidFill>
                <a:latin typeface="Century Gothic Paneuropean Bold"/>
                <a:ea typeface="Century Gothic Paneuropean Bold"/>
                <a:cs typeface="Century Gothic Paneuropean Bold"/>
                <a:sym typeface="Century Gothic Paneuropean Bold"/>
              </a:rPr>
              <a:t>CONCLUSION</a:t>
            </a:r>
          </a:p>
        </p:txBody>
      </p:sp>
      <p:sp>
        <p:nvSpPr>
          <p:cNvPr id="13" name="TextBox 13"/>
          <p:cNvSpPr txBox="1"/>
          <p:nvPr/>
        </p:nvSpPr>
        <p:spPr>
          <a:xfrm>
            <a:off x="933333" y="2692049"/>
            <a:ext cx="16421333" cy="4962897"/>
          </a:xfrm>
          <a:prstGeom prst="rect">
            <a:avLst/>
          </a:prstGeom>
        </p:spPr>
        <p:txBody>
          <a:bodyPr wrap="square" lIns="0" tIns="0" rIns="0" bIns="0" rtlCol="0" anchor="t">
            <a:spAutoFit/>
          </a:bodyPr>
          <a:lstStyle/>
          <a:p>
            <a:pPr>
              <a:lnSpc>
                <a:spcPts val="4340"/>
              </a:lnSpc>
            </a:pPr>
            <a:r>
              <a:rPr lang="en-US" sz="4000" dirty="0">
                <a:solidFill>
                  <a:srgbClr val="2C4600"/>
                </a:solidFill>
                <a:latin typeface="Arimo"/>
                <a:ea typeface="Arimo"/>
                <a:cs typeface="Arimo"/>
                <a:sym typeface="Arimo"/>
              </a:rPr>
              <a:t>• Project successfully delivers an accessible, multi language, and interactive tourism solution.</a:t>
            </a:r>
          </a:p>
          <a:p>
            <a:pPr>
              <a:lnSpc>
                <a:spcPts val="4340"/>
              </a:lnSpc>
            </a:pPr>
            <a:endParaRPr lang="en-US" sz="4000" dirty="0">
              <a:solidFill>
                <a:srgbClr val="2C4600"/>
              </a:solidFill>
              <a:latin typeface="Arimo"/>
              <a:ea typeface="Arimo"/>
              <a:cs typeface="Arimo"/>
              <a:sym typeface="Arimo"/>
            </a:endParaRPr>
          </a:p>
          <a:p>
            <a:pPr>
              <a:lnSpc>
                <a:spcPts val="4340"/>
              </a:lnSpc>
            </a:pPr>
            <a:r>
              <a:rPr lang="en-US" sz="4000" dirty="0">
                <a:solidFill>
                  <a:srgbClr val="2C4600"/>
                </a:solidFill>
                <a:latin typeface="Arimo"/>
                <a:ea typeface="Arimo"/>
                <a:cs typeface="Arimo"/>
                <a:sym typeface="Arimo"/>
              </a:rPr>
              <a:t>• It will help to get interconnected with the different locations of the </a:t>
            </a:r>
            <a:r>
              <a:rPr lang="en-US" sz="4000" dirty="0" err="1">
                <a:solidFill>
                  <a:srgbClr val="2C4600"/>
                </a:solidFill>
                <a:latin typeface="Arimo"/>
                <a:ea typeface="Arimo"/>
                <a:cs typeface="Arimo"/>
                <a:sym typeface="Arimo"/>
              </a:rPr>
              <a:t>kolhapur</a:t>
            </a:r>
            <a:r>
              <a:rPr lang="en-US" sz="4000" dirty="0">
                <a:solidFill>
                  <a:srgbClr val="2C4600"/>
                </a:solidFill>
                <a:latin typeface="Arimo"/>
                <a:ea typeface="Arimo"/>
                <a:cs typeface="Arimo"/>
                <a:sym typeface="Arimo"/>
              </a:rPr>
              <a:t>.</a:t>
            </a:r>
          </a:p>
          <a:p>
            <a:pPr>
              <a:lnSpc>
                <a:spcPts val="4340"/>
              </a:lnSpc>
            </a:pPr>
            <a:endParaRPr lang="en-US" sz="4000" dirty="0">
              <a:solidFill>
                <a:srgbClr val="2C4600"/>
              </a:solidFill>
              <a:latin typeface="Arimo"/>
              <a:ea typeface="Arimo"/>
              <a:cs typeface="Arimo"/>
              <a:sym typeface="Arimo"/>
            </a:endParaRPr>
          </a:p>
          <a:p>
            <a:pPr>
              <a:lnSpc>
                <a:spcPts val="4340"/>
              </a:lnSpc>
            </a:pPr>
            <a:r>
              <a:rPr lang="en-US" sz="4000" dirty="0">
                <a:solidFill>
                  <a:srgbClr val="2C4600"/>
                </a:solidFill>
                <a:latin typeface="Arimo"/>
                <a:ea typeface="Arimo"/>
                <a:cs typeface="Arimo"/>
                <a:sym typeface="Arimo"/>
              </a:rPr>
              <a:t>• It will help to understand the history of locations and due to 3D interface it increases deep understanding of users.   </a:t>
            </a:r>
          </a:p>
          <a:p>
            <a:pPr algn="ctr">
              <a:lnSpc>
                <a:spcPts val="4340"/>
              </a:lnSpc>
            </a:pPr>
            <a:endParaRPr lang="en-US" sz="4000" dirty="0">
              <a:solidFill>
                <a:srgbClr val="2C4600"/>
              </a:solidFill>
              <a:latin typeface="Arimo"/>
              <a:ea typeface="Arimo"/>
              <a:cs typeface="Arimo"/>
              <a:sym typeface="Arimo"/>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4F0D8"/>
        </a:solidFill>
        <a:effectLst/>
      </p:bgPr>
    </p:bg>
    <p:spTree>
      <p:nvGrpSpPr>
        <p:cNvPr id="1" name=""/>
        <p:cNvGrpSpPr/>
        <p:nvPr/>
      </p:nvGrpSpPr>
      <p:grpSpPr>
        <a:xfrm>
          <a:off x="0" y="0"/>
          <a:ext cx="0" cy="0"/>
          <a:chOff x="0" y="0"/>
          <a:chExt cx="0" cy="0"/>
        </a:xfrm>
      </p:grpSpPr>
      <p:sp>
        <p:nvSpPr>
          <p:cNvPr id="2" name="Freeform 2"/>
          <p:cNvSpPr/>
          <p:nvPr/>
        </p:nvSpPr>
        <p:spPr>
          <a:xfrm>
            <a:off x="-4164295" y="6986796"/>
            <a:ext cx="8328590" cy="6600408"/>
          </a:xfrm>
          <a:custGeom>
            <a:avLst/>
            <a:gdLst/>
            <a:ahLst/>
            <a:cxnLst/>
            <a:rect l="l" t="t" r="r" b="b"/>
            <a:pathLst>
              <a:path w="8328590" h="6600408">
                <a:moveTo>
                  <a:pt x="0" y="0"/>
                </a:moveTo>
                <a:lnTo>
                  <a:pt x="8328590" y="0"/>
                </a:lnTo>
                <a:lnTo>
                  <a:pt x="8328590" y="6600408"/>
                </a:lnTo>
                <a:lnTo>
                  <a:pt x="0" y="66004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3631678" y="7446153"/>
            <a:ext cx="10608642" cy="11546822"/>
          </a:xfrm>
          <a:custGeom>
            <a:avLst/>
            <a:gdLst/>
            <a:ahLst/>
            <a:cxnLst/>
            <a:rect l="l" t="t" r="r" b="b"/>
            <a:pathLst>
              <a:path w="10608642" h="11546822">
                <a:moveTo>
                  <a:pt x="0" y="0"/>
                </a:moveTo>
                <a:lnTo>
                  <a:pt x="10608643" y="0"/>
                </a:lnTo>
                <a:lnTo>
                  <a:pt x="10608643" y="11546822"/>
                </a:lnTo>
                <a:lnTo>
                  <a:pt x="0" y="1154682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849365">
            <a:off x="-209999" y="7200900"/>
            <a:ext cx="3463913" cy="4114800"/>
          </a:xfrm>
          <a:custGeom>
            <a:avLst/>
            <a:gdLst/>
            <a:ahLst/>
            <a:cxnLst/>
            <a:rect l="l" t="t" r="r" b="b"/>
            <a:pathLst>
              <a:path w="3463913" h="4114800">
                <a:moveTo>
                  <a:pt x="0" y="0"/>
                </a:moveTo>
                <a:lnTo>
                  <a:pt x="3463914" y="0"/>
                </a:lnTo>
                <a:lnTo>
                  <a:pt x="3463914"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3704487" y="8229600"/>
            <a:ext cx="2356658" cy="4114800"/>
          </a:xfrm>
          <a:custGeom>
            <a:avLst/>
            <a:gdLst/>
            <a:ahLst/>
            <a:cxnLst/>
            <a:rect l="l" t="t" r="r" b="b"/>
            <a:pathLst>
              <a:path w="2356658" h="4114800">
                <a:moveTo>
                  <a:pt x="0" y="0"/>
                </a:moveTo>
                <a:lnTo>
                  <a:pt x="2356659" y="0"/>
                </a:lnTo>
                <a:lnTo>
                  <a:pt x="2356659"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rot="9891071">
            <a:off x="13768657" y="-4710460"/>
            <a:ext cx="8328590" cy="6600408"/>
          </a:xfrm>
          <a:custGeom>
            <a:avLst/>
            <a:gdLst/>
            <a:ahLst/>
            <a:cxnLst/>
            <a:rect l="l" t="t" r="r" b="b"/>
            <a:pathLst>
              <a:path w="8328590" h="6600408">
                <a:moveTo>
                  <a:pt x="0" y="0"/>
                </a:moveTo>
                <a:lnTo>
                  <a:pt x="8328591" y="0"/>
                </a:lnTo>
                <a:lnTo>
                  <a:pt x="8328591" y="6600407"/>
                </a:lnTo>
                <a:lnTo>
                  <a:pt x="0" y="66004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p:cNvSpPr/>
          <p:nvPr/>
        </p:nvSpPr>
        <p:spPr>
          <a:xfrm rot="9891071">
            <a:off x="10247754" y="-9577219"/>
            <a:ext cx="10608642" cy="11546822"/>
          </a:xfrm>
          <a:custGeom>
            <a:avLst/>
            <a:gdLst/>
            <a:ahLst/>
            <a:cxnLst/>
            <a:rect l="l" t="t" r="r" b="b"/>
            <a:pathLst>
              <a:path w="10608642" h="11546822">
                <a:moveTo>
                  <a:pt x="0" y="0"/>
                </a:moveTo>
                <a:lnTo>
                  <a:pt x="10608642" y="0"/>
                </a:lnTo>
                <a:lnTo>
                  <a:pt x="10608642" y="11546822"/>
                </a:lnTo>
                <a:lnTo>
                  <a:pt x="0" y="1154682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rot="9891071">
            <a:off x="15012761" y="-1456000"/>
            <a:ext cx="3463913" cy="4114800"/>
          </a:xfrm>
          <a:custGeom>
            <a:avLst/>
            <a:gdLst/>
            <a:ahLst/>
            <a:cxnLst/>
            <a:rect l="l" t="t" r="r" b="b"/>
            <a:pathLst>
              <a:path w="3463913" h="4114800">
                <a:moveTo>
                  <a:pt x="0" y="0"/>
                </a:moveTo>
                <a:lnTo>
                  <a:pt x="3463914" y="0"/>
                </a:lnTo>
                <a:lnTo>
                  <a:pt x="3463914"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p:cNvSpPr/>
          <p:nvPr/>
        </p:nvSpPr>
        <p:spPr>
          <a:xfrm rot="9891071">
            <a:off x="12402248" y="-2057400"/>
            <a:ext cx="2356658" cy="4114800"/>
          </a:xfrm>
          <a:custGeom>
            <a:avLst/>
            <a:gdLst/>
            <a:ahLst/>
            <a:cxnLst/>
            <a:rect l="l" t="t" r="r" b="b"/>
            <a:pathLst>
              <a:path w="2356658" h="4114800">
                <a:moveTo>
                  <a:pt x="0" y="0"/>
                </a:moveTo>
                <a:lnTo>
                  <a:pt x="2356658" y="0"/>
                </a:lnTo>
                <a:lnTo>
                  <a:pt x="2356658"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0" name="Freeform 10"/>
          <p:cNvSpPr/>
          <p:nvPr/>
        </p:nvSpPr>
        <p:spPr>
          <a:xfrm>
            <a:off x="16514775" y="8229600"/>
            <a:ext cx="1489050" cy="2519931"/>
          </a:xfrm>
          <a:custGeom>
            <a:avLst/>
            <a:gdLst/>
            <a:ahLst/>
            <a:cxnLst/>
            <a:rect l="l" t="t" r="r" b="b"/>
            <a:pathLst>
              <a:path w="1489050" h="2519931">
                <a:moveTo>
                  <a:pt x="0" y="0"/>
                </a:moveTo>
                <a:lnTo>
                  <a:pt x="1489050" y="0"/>
                </a:lnTo>
                <a:lnTo>
                  <a:pt x="1489050" y="2519931"/>
                </a:lnTo>
                <a:lnTo>
                  <a:pt x="0" y="2519931"/>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1" name="Freeform 11"/>
          <p:cNvSpPr/>
          <p:nvPr/>
        </p:nvSpPr>
        <p:spPr>
          <a:xfrm flipV="1">
            <a:off x="284175" y="-433465"/>
            <a:ext cx="1489050" cy="2519931"/>
          </a:xfrm>
          <a:custGeom>
            <a:avLst/>
            <a:gdLst/>
            <a:ahLst/>
            <a:cxnLst/>
            <a:rect l="l" t="t" r="r" b="b"/>
            <a:pathLst>
              <a:path w="1489050" h="2519931">
                <a:moveTo>
                  <a:pt x="0" y="2519931"/>
                </a:moveTo>
                <a:lnTo>
                  <a:pt x="1489050" y="2519931"/>
                </a:lnTo>
                <a:lnTo>
                  <a:pt x="1489050" y="0"/>
                </a:lnTo>
                <a:lnTo>
                  <a:pt x="0" y="0"/>
                </a:lnTo>
                <a:lnTo>
                  <a:pt x="0" y="2519931"/>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2" name="TextBox 12"/>
          <p:cNvSpPr txBox="1"/>
          <p:nvPr/>
        </p:nvSpPr>
        <p:spPr>
          <a:xfrm>
            <a:off x="3906153" y="3351442"/>
            <a:ext cx="9144779" cy="3780417"/>
          </a:xfrm>
          <a:prstGeom prst="rect">
            <a:avLst/>
          </a:prstGeom>
        </p:spPr>
        <p:txBody>
          <a:bodyPr wrap="square" lIns="0" tIns="0" rIns="0" bIns="0" rtlCol="0" anchor="t">
            <a:spAutoFit/>
          </a:bodyPr>
          <a:lstStyle/>
          <a:p>
            <a:pPr algn="ctr">
              <a:lnSpc>
                <a:spcPts val="13922"/>
              </a:lnSpc>
            </a:pPr>
            <a:r>
              <a:rPr lang="en-US" sz="16002" b="1" dirty="0">
                <a:solidFill>
                  <a:srgbClr val="2C4600"/>
                </a:solidFill>
                <a:effectLst>
                  <a:outerShdw blurRad="38100" dist="38100" dir="2700000" algn="tl">
                    <a:srgbClr val="000000">
                      <a:alpha val="43137"/>
                    </a:srgbClr>
                  </a:outerShdw>
                </a:effectLst>
                <a:latin typeface="Century Gothic Paneuropean Bold"/>
                <a:ea typeface="Century Gothic Paneuropean Bold"/>
                <a:cs typeface="Century Gothic Paneuropean Bold"/>
                <a:sym typeface="Century Gothic Paneuropean Bold"/>
              </a:rPr>
              <a:t>THANK</a:t>
            </a:r>
          </a:p>
          <a:p>
            <a:pPr algn="ctr">
              <a:lnSpc>
                <a:spcPts val="13922"/>
              </a:lnSpc>
            </a:pPr>
            <a:r>
              <a:rPr lang="en-US" sz="16002" b="1" dirty="0">
                <a:solidFill>
                  <a:srgbClr val="2C4600"/>
                </a:solidFill>
                <a:effectLst>
                  <a:outerShdw blurRad="38100" dist="38100" dir="2700000" algn="tl">
                    <a:srgbClr val="000000">
                      <a:alpha val="43137"/>
                    </a:srgbClr>
                  </a:outerShdw>
                </a:effectLst>
                <a:latin typeface="Century Gothic Paneuropean Bold"/>
                <a:ea typeface="Century Gothic Paneuropean Bold"/>
                <a:cs typeface="Century Gothic Paneuropean Bold"/>
                <a:sym typeface="Century Gothic Paneuropean Bold"/>
              </a:rPr>
              <a:t>YOU</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281</TotalTime>
  <Words>489</Words>
  <Application>Microsoft Office PowerPoint</Application>
  <PresentationFormat>Custom</PresentationFormat>
  <Paragraphs>57</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Wingdings</vt:lpstr>
      <vt:lpstr>Calibri</vt:lpstr>
      <vt:lpstr>Arimo</vt:lpstr>
      <vt:lpstr>Arial</vt:lpstr>
      <vt:lpstr>Century Gothic Paneuropean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 Modern Aesthetic Group Project Presentation</dc:title>
  <cp:lastModifiedBy>Adarsh Gurav</cp:lastModifiedBy>
  <cp:revision>15</cp:revision>
  <dcterms:created xsi:type="dcterms:W3CDTF">2006-08-16T00:00:00Z</dcterms:created>
  <dcterms:modified xsi:type="dcterms:W3CDTF">2025-09-10T19:10:41Z</dcterms:modified>
  <dc:identifier>DAGx83N_t1M</dc:identifier>
</cp:coreProperties>
</file>